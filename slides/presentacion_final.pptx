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2ae58300-2300-6538-5e59-d9a3a104d36f}">
          <p14:sldIdLst>
            <p14:sldId id="256"/>
            <p14:sldId id="257"/>
          </p14:sldIdLst>
        </p14:section>
        <p14:section name="Método" id="{42327332-0fee-d09e-39c0-987d0dd98b7d}">
          <p14:sldIdLst>
            <p14:sldId id="258"/>
          </p14:sldIdLst>
        </p14:section>
        <p14:section name="Resultados" id="{368152f7-6879-327a-1597-3265ff19e7e1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Cierre" id="{15027108-20b5-e88a-17c9-f2e9842ce6a1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Parámetros totales (millones)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Parámetros totales (millones)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DA1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DenseNet121</c:v>
                  </c:pt>
                  <c:pt idx="1">
                    <c:v>ResNet18</c:v>
                  </c:pt>
                  <c:pt idx="2">
                    <c:v>ViT-B/16</c:v>
                  </c:pt>
                  <c:pt idx="3">
                    <c:v>MaxViT-T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11.2</c:v>
                </c:pt>
                <c:pt idx="2">
                  <c:v>85.8</c:v>
                </c:pt>
                <c:pt idx="3">
                  <c:v>30.4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75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Memoria GPU pico (MB)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Memoria GPU pico (MB)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DA1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DenseNet121</c:v>
                  </c:pt>
                  <c:pt idx="1">
                    <c:v>ResNet18</c:v>
                  </c:pt>
                  <c:pt idx="2">
                    <c:v>ViT-B/16</c:v>
                  </c:pt>
                  <c:pt idx="3">
                    <c:v>MaxViT-T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442</c:v>
                </c:pt>
                <c:pt idx="1">
                  <c:v>418</c:v>
                </c:pt>
                <c:pt idx="2">
                  <c:v>980</c:v>
                </c:pt>
                <c:pt idx="3">
                  <c:v>1315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75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Inferencia (imágenes/s)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Inferencia (imágenes/s)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DA1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DenseNet121</c:v>
                  </c:pt>
                  <c:pt idx="1">
                    <c:v>ResNet18</c:v>
                  </c:pt>
                  <c:pt idx="2">
                    <c:v>ViT-B/16</c:v>
                  </c:pt>
                  <c:pt idx="3">
                    <c:v>MaxViT-T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1156</c:v>
                </c:pt>
                <c:pt idx="1">
                  <c:v>4754</c:v>
                </c:pt>
                <c:pt idx="2">
                  <c:v>360</c:v>
                </c:pt>
                <c:pt idx="3">
                  <c:v>373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75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Buenas tardes, soy Alfredo Gallegos López.
Hoy quiero responder una pregunta sencilla: si queremos que una computadora lea radiografías de tórax, ¿qué conviene más? ¿Una red convolucional, un Transformer, o una mezcla de los dos?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Trabajé con ChestX-ray14: ciento doce mil radiografías de unos treinta mil pacientes, con catorce posibles hallazgos.
Y no es un problema fácil, por tres razones:
• Una misma radiografía puede tener varios hallazgos a la vez.
• Las etiquetas tienen errores, porque salieron automáticamente de los reportes médicos.
• Hay hallazgos rarísimos. La hernia aparece en apenas dos de cada mil imágenes.
Por eso no comparo con el porcentaje de aciertos, sino con el AUROC. La idea es simple: si le doy al modelo una radiografía enferma y una sana, ¿qué tan seguido le da más puntaje a la enferma? Medio punto es adivinar al azar; uno es perfecto.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que la comparación sea justa, los cuatro modelos siguen exactamente las mismas reglas.
Primero, separé las imágenes por paciente: nadie aparece al mismo tiempo en entrenamiento y en prueba. Si no, sería como dejar que el alumno vea el examen antes de presentarlo.
Los modelos son cuatro:
• Dos redes convolucionales, DenseNet y ResNet. Miran la imagen con filtros pequeños, como una lupa que recorre la placa.
• Un Transformer, el ViT. Corta la imagen en cuadritos y los compara todos entre sí.
• Un híbrido, MaxViT, que combina las dos ideas.
Ninguno empieza de cero. Todos vienen entrenados con millones de fotos normales, y yo solo reentreno su última parte. Es como contratar a alguien que ya sabe mirar imágenes y enseñarle solamente a leer radiografías. A esto se le llama fine-tuning parcial.
Y además pruebo un ensemble: juntar a los cuatro modelos y promediar su opinión.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[Señala la tabla] Este es el resultado principal.
Los cuatro modelos quedan muy parejos, entre 0.73 y 0.75 de AUROC, y sus diferencias están dentro del margen de error. De hecho, cuando repetí el experimento, el orden cambió.
En cambio, el ensemble sí destaca: llega a 0.77 y le gana a todos, con diferencia significativa.
Y un detalle curioso. [Señala la columna de exactitud] La exactitud es de 95% para todos. Pero un modelo que siempre dice "está sano" también saca 95%. Por eso esa métrica, aquí, no sirve para comparar.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¿Por qué funciona el ensemble? Por lo mismo que una segunda opinión médica: cada modelo se equivoca en cosas distintas, y al juntarlos, los errores se compensan.
¿Y el híbrido? Quedó en último lugar. Pero miren su curva. [Señala la línea amarilla] Todavía estaba aprendiendo cuando se terminó el entrenamiento. Simplemente le faltó tiempo.
ResNet, en cambio, aprende tan rápido que pronto empieza a memorizar. Por eso siempre uso su mejor momento, no el último.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Después quise saber qué pasa con todos los datos. Así que repetí todo con las ciento doce mil imágenes, con las mismas reglas; lo único que cambia es la cantidad de datos.
Mi computadora se apagaba con tanta carga, así que puse la tarjeta gráfica a medio ritmo. Tardó casi cuatro horas, pero sin un solo apagado.
¿El resultado? Todos mejoran unos cinco puntos. El híbrido es el que más gana, y ahora sí termina de aprender. El ensemble sube a 0.81, muy cerca de los mejores trabajos publicados. Y con tantos datos, ResNet ya se separa como el mejor modelo individual, aunque por muy poquito.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 que me pareció muy interesante: la dificultad depende más de la enfermedad que del modelo. Las que son grandes y evidentes, como el edema o el derrame, se detectan bien. Las pequeñas, como los nódulos, les cuestan a 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 donde sí hay diferencias grandes es en el costo.
El ViT tiene doce veces más parámetros que DenseNet. Y el ViT y el híbrido son unas trece veces más lentos que ResNet para clasificar, sin dar mejores resultados.
Si tuviera que elegir uno para la práctica, sería ResNet: rinde igual o mejor, y es el más rápido y ligero.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último, quise ver dónde miran los modelos. Para eso usé Grad-CAM, que pinta de rojo las zonas que más influyeron en la decisión.
[Señala el caso de derrame] Cuando hay derrame, los modelos miran justo donde está el problema.
[Señala el caso de infiltración] Pero en otros casos miran las orillas de la imagen, o una etiqueta de texto que dice "PORTABLE".
Eso es una alerta: un modelo puede acertar por las razones equivocadas. Que tenga buen puntaje no garantiza que esté viendo lo mismo que vería un médico.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cerrar, me quedo con tres ideas:
Uno. Con las mismas reglas, convolucional, Transformer e híbrido rinden casi igual. Con más datos todos mejoran, y ResNet gana por poco.
Dos. Lo que sí marca la diferencia es combinarlos, y en la práctica, el costo, donde ResNet es el más eficiente.
Y tres. Medir bien importa tanto como el modelo. Separar por paciente, usar intervalos de confianza y repetir el experimento me evitó sacar conclusiones equivocadas.
Como siguientes pasos: reentrenar la red completa, aprovechar radiografías sin etiquetas y sumar datos clínicos del paciente.
[Pausa] Muchas gracias. Quedo atento a sus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862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Proyecto Final · Deep Learning · NIH ChestX-ray14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3D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¿CNN, Transformer o híbrido para radiografías de tórax?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862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Comparación de DenseNet121, ResNet18, ViT-B/16, MaxViT-T (híbrido) y un ensemble en NIH ChestX-ray14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Alfredo Gallegos López · Universidad Panamericana, Aguascalientes · Proyecto Final de Deep Learning · Octubre 2026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82880" cy="1828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417320"/>
            <a:ext cx="182880" cy="18288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417320"/>
            <a:ext cx="182880" cy="18288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1640" y="1417320"/>
            <a:ext cx="182880" cy="18288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1417320"/>
            <a:ext cx="182880" cy="18288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14 hallazgos, varios por imagen y muy desbalanceados</a:t>
            </a:r>
            <a:endParaRPr lang="en-US" sz="2800" dirty="0"/>
          </a:p>
        </p:txBody>
      </p:sp>
      <p:sp>
        <p:nvSpPr>
          <p:cNvPr id="3" name="stat-0"/>
          <p:cNvSpPr/>
          <p:nvPr/>
        </p:nvSpPr>
        <p:spPr>
          <a:xfrm>
            <a:off x="548640" y="141732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112,120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radiografías frontales</a:t>
            </a:r>
            <a:endParaRPr lang="en-US" sz="1400" dirty="0"/>
          </a:p>
        </p:txBody>
      </p:sp>
      <p:sp>
        <p:nvSpPr>
          <p:cNvPr id="6" name="stat-1"/>
          <p:cNvSpPr/>
          <p:nvPr/>
        </p:nvSpPr>
        <p:spPr>
          <a:xfrm>
            <a:off x="3337560" y="141732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37560" y="15544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30,805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2377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pacientes</a:t>
            </a:r>
            <a:endParaRPr lang="en-US" sz="1400" dirty="0"/>
          </a:p>
        </p:txBody>
      </p:sp>
      <p:sp>
        <p:nvSpPr>
          <p:cNvPr id="9" name="stat-2"/>
          <p:cNvSpPr/>
          <p:nvPr/>
        </p:nvSpPr>
        <p:spPr>
          <a:xfrm>
            <a:off x="6126480" y="141732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5544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377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hallazgos (multi-etiqueta)</a:t>
            </a:r>
            <a:endParaRPr lang="en-US" sz="1400" dirty="0"/>
          </a:p>
        </p:txBody>
      </p:sp>
      <p:sp>
        <p:nvSpPr>
          <p:cNvPr id="12" name="stat-3"/>
          <p:cNvSpPr/>
          <p:nvPr/>
        </p:nvSpPr>
        <p:spPr>
          <a:xfrm>
            <a:off x="8915400" y="141732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15400" y="15544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0.2–18%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8915400" y="2377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prevalencia por hallazgo</a:t>
            </a:r>
            <a:endParaRPr lang="en-US" sz="1400" dirty="0"/>
          </a:p>
        </p:txBody>
      </p:sp>
      <p:pic>
        <p:nvPicPr>
          <p:cNvPr id="15" name="ejemplos-dataset" descr="ejemplos-datas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3246120"/>
            <a:ext cx="10561320" cy="3017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Mismo protocolo y mismo presupuesto para los cuatro modelos</a:t>
            </a:r>
            <a:endParaRPr lang="en-US" sz="2800" dirty="0"/>
          </a:p>
        </p:txBody>
      </p:sp>
      <p:sp>
        <p:nvSpPr>
          <p:cNvPr id="3" name="paso-1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28016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Datos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12,000 imágenes al azar; split por paciente 70/15/15 (8,400 de entrenamiento)</a:t>
            </a:r>
            <a:endParaRPr lang="en-US" sz="1800" dirty="0"/>
          </a:p>
        </p:txBody>
      </p:sp>
      <p:sp>
        <p:nvSpPr>
          <p:cNvPr id="6" name="paso-2"/>
          <p:cNvSpPr/>
          <p:nvPr/>
        </p:nvSpPr>
        <p:spPr>
          <a:xfrm>
            <a:off x="548640" y="2560320"/>
            <a:ext cx="548640" cy="54864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46888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Entrada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1024 → 224 px, normalización ImageNet, volteo horizontal; desbalance tratado con AUROC y umbral por clase</a:t>
            </a:r>
            <a:endParaRPr lang="en-US" sz="1800" dirty="0"/>
          </a:p>
        </p:txBody>
      </p:sp>
      <p:sp>
        <p:nvSpPr>
          <p:cNvPr id="9" name="paso-3"/>
          <p:cNvSpPr/>
          <p:nvPr/>
        </p:nvSpPr>
        <p:spPr>
          <a:xfrm>
            <a:off x="548640" y="3749040"/>
            <a:ext cx="548640" cy="54864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65760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Fine-tuning parcial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Desde ImageNet se ajustan el último bloque + capa de 14 salidas; el resto, congelado. Adam 1e-4, 5 épocas, mejor época en validación</a:t>
            </a:r>
            <a:endParaRPr lang="en-US" sz="1800" dirty="0"/>
          </a:p>
        </p:txBody>
      </p:sp>
      <p:sp>
        <p:nvSpPr>
          <p:cNvPr id="12" name="paso-4"/>
          <p:cNvSpPr/>
          <p:nvPr/>
        </p:nvSpPr>
        <p:spPr>
          <a:xfrm>
            <a:off x="548640" y="4937760"/>
            <a:ext cx="548640" cy="54864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937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84632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Evaluación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AUROC, F1 (umbral elegido en validación), exactitud, IC 95% por bootstrap y comparación pareada</a:t>
            </a:r>
            <a:endParaRPr lang="en-US" sz="1800" dirty="0"/>
          </a:p>
        </p:txBody>
      </p:sp>
      <p:sp>
        <p:nvSpPr>
          <p:cNvPr id="15" name="modelo-densenet121"/>
          <p:cNvSpPr/>
          <p:nvPr/>
        </p:nvSpPr>
        <p:spPr>
          <a:xfrm>
            <a:off x="6949440" y="1325880"/>
            <a:ext cx="4663440" cy="1051560"/>
          </a:xfrm>
          <a:prstGeom prst="roundRect">
            <a:avLst>
              <a:gd name="adj" fmla="val 1043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78040" y="1527048"/>
            <a:ext cx="256032" cy="25603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1417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DenseNet121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18288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CNN · conexiones densas (base de CheXNet) · 7.0M parám., se ajusta el 31% (2.2M)</a:t>
            </a:r>
            <a:endParaRPr lang="en-US" sz="1300" dirty="0"/>
          </a:p>
        </p:txBody>
      </p:sp>
      <p:sp>
        <p:nvSpPr>
          <p:cNvPr id="19" name="modelo-resnet18"/>
          <p:cNvSpPr/>
          <p:nvPr/>
        </p:nvSpPr>
        <p:spPr>
          <a:xfrm>
            <a:off x="6949440" y="2496312"/>
            <a:ext cx="4663440" cy="1051560"/>
          </a:xfrm>
          <a:prstGeom prst="roundRect">
            <a:avLst>
              <a:gd name="adj" fmla="val 1043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2697480"/>
            <a:ext cx="256032" cy="256032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0" y="25877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ResNet18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299923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CNN · conexiones residuales · 11.2M parám., se ajusta el 75% (8.4M)</a:t>
            </a:r>
            <a:endParaRPr lang="en-US" sz="1300" dirty="0"/>
          </a:p>
        </p:txBody>
      </p:sp>
      <p:sp>
        <p:nvSpPr>
          <p:cNvPr id="23" name="modelo-vit_b_16"/>
          <p:cNvSpPr/>
          <p:nvPr/>
        </p:nvSpPr>
        <p:spPr>
          <a:xfrm>
            <a:off x="6949440" y="3666744"/>
            <a:ext cx="4663440" cy="1051560"/>
          </a:xfrm>
          <a:prstGeom prst="roundRect">
            <a:avLst>
              <a:gd name="adj" fmla="val 1043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78040" y="3867912"/>
            <a:ext cx="256032" cy="256032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0" y="375818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ViT-B/16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589520" y="416966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Transformer · 12 bloques de auto-atención · 85.8M parám., se ajusta el 8% (7.1M)</a:t>
            </a:r>
            <a:endParaRPr lang="en-US" sz="1300" dirty="0"/>
          </a:p>
        </p:txBody>
      </p:sp>
      <p:sp>
        <p:nvSpPr>
          <p:cNvPr id="27" name="modelo-maxvit_t"/>
          <p:cNvSpPr/>
          <p:nvPr/>
        </p:nvSpPr>
        <p:spPr>
          <a:xfrm>
            <a:off x="6949440" y="4837176"/>
            <a:ext cx="4663440" cy="1051560"/>
          </a:xfrm>
          <a:prstGeom prst="roundRect">
            <a:avLst>
              <a:gd name="adj" fmla="val 1043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78040" y="5038344"/>
            <a:ext cx="256032" cy="256032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89520" y="492861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MaxViT-T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589520" y="534009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Híbrido · convoluciones + atención local y global · 30.4M parám., se ajusta el 30% (9.2M)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6035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+ Ensemble: promedio de las probabilidades de los cuatro, sin entrenamiento adicional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Ninguna arquitectura domina; el ensemble mejora a todas</a:t>
            </a:r>
            <a:endParaRPr lang="en-US" sz="2800" dirty="0"/>
          </a:p>
        </p:txBody>
      </p:sp>
      <p:graphicFrame>
        <p:nvGraphicFramePr>
          <p:cNvPr id="5" name="tabla-resultad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1417320"/>
                <a:gridCol w="1417320"/>
                <a:gridCol w="1417320"/>
                <a:gridCol w="16002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Modelo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AUROC macro [IC 95%]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F1 macro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F1 micro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Exactitud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Mejor época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A78D6"/>
                          </a:solidFill>
                        </a:rPr>
                        <a:t>● 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</a:rPr>
                        <a:t>DenseNet121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0.745  [0.721, 0.768]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0.188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0.253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0.950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B6834"/>
                          </a:solidFill>
                        </a:rPr>
                        <a:t>● 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</a:rPr>
                        <a:t>ResNet18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0.749  [0.725, 0.771]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0.197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0.266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0.950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AF7A"/>
                          </a:solidFill>
                        </a:rPr>
                        <a:t>● 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</a:rPr>
                        <a:t>ViT-B/16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0.742  [0.717, 0.766]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0.194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0.274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0.950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DA100"/>
                          </a:solidFill>
                        </a:rPr>
                        <a:t>● 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</a:rPr>
                        <a:t>MaxViT-T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0.733  [0.705, 0.759]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0.172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0.252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0.950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6250D6"/>
                          </a:solidFill>
                        </a:rPr>
                        <a:t>● 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</a:rPr>
                        <a:t>Ensemble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</a:rPr>
                        <a:t>0.767  [0.740, 0.791]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</a:rPr>
                        <a:t>0.204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</a:rPr>
                        <a:t>0.310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0.950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4" name="hallazgo-0"/>
          <p:cNvSpPr/>
          <p:nvPr/>
        </p:nvSpPr>
        <p:spPr>
          <a:xfrm>
            <a:off x="548640" y="420624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43434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Entre modelos individuales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Ninguna diferencia de AUROC es significativa</a:t>
            </a:r>
            <a:endParaRPr lang="en-US" sz="1600" dirty="0"/>
          </a:p>
        </p:txBody>
      </p:sp>
      <p:sp>
        <p:nvSpPr>
          <p:cNvPr id="6" name="hallazgo-1"/>
          <p:cNvSpPr/>
          <p:nvPr/>
        </p:nvSpPr>
        <p:spPr>
          <a:xfrm>
            <a:off x="4297680" y="420624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26280" y="43434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Ensemble vs. cada modelo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+0.018 a +0.034 de AUROC, todas significativas</a:t>
            </a:r>
            <a:endParaRPr lang="en-US" sz="1600" dirty="0"/>
          </a:p>
        </p:txBody>
      </p:sp>
      <p:sp>
        <p:nvSpPr>
          <p:cNvPr id="8" name="hallazgo-2"/>
          <p:cNvSpPr/>
          <p:nvPr/>
        </p:nvSpPr>
        <p:spPr>
          <a:xfrm>
            <a:off x="8046720" y="420624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75320" y="43434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La exactitud no distingue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Todos ≈ 0.950, igual que predecir siempre "sin hallazgo"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Una repetición independiente del experimento cambió el orden de los modelos individuales (hasta 0.010 de AUROC).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El ensemble mejora a todos; el híbrido no convergió</a:t>
            </a:r>
            <a:endParaRPr lang="en-US" sz="2800" dirty="0"/>
          </a:p>
        </p:txBody>
      </p:sp>
      <p:sp>
        <p:nvSpPr>
          <p:cNvPr id="3" name="stat-ensemble"/>
          <p:cNvSpPr/>
          <p:nvPr/>
        </p:nvSpPr>
        <p:spPr>
          <a:xfrm>
            <a:off x="548640" y="1371600"/>
            <a:ext cx="4937760" cy="219456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256032" cy="256032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53619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Ensemble de los 4 modelos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6250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0.767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2057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AUROC macro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+0.018 a +0.034 sobre cada modelo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Errores distintos entre CNN, Transformer e híbrido se compensan. Costo: correr los 4 (≈153 img/s, 134M parám.)</a:t>
            </a:r>
            <a:endParaRPr lang="en-US" sz="1300" dirty="0"/>
          </a:p>
        </p:txBody>
      </p:sp>
      <p:sp>
        <p:nvSpPr>
          <p:cNvPr id="9" name="stat-maxvit"/>
          <p:cNvSpPr/>
          <p:nvPr/>
        </p:nvSpPr>
        <p:spPr>
          <a:xfrm>
            <a:off x="548640" y="3794760"/>
            <a:ext cx="4937760" cy="2377440"/>
          </a:xfrm>
          <a:prstGeom prst="roundRect">
            <a:avLst>
              <a:gd name="adj" fmla="val 461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4023360"/>
            <a:ext cx="256032" cy="256032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395935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MaxViT-T (híbrido)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3891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0.733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4480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AUROC macro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mejor época: 5 de 5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3035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Su pérdida de validación seguía bajando: con 5 épocas y solo la última capa entrenable, no llegó a converger.</a:t>
            </a:r>
            <a:endParaRPr lang="en-US" sz="1300" dirty="0"/>
          </a:p>
        </p:txBody>
      </p:sp>
      <p:pic>
        <p:nvPicPr>
          <p:cNvPr id="15" name="curvas-convergencia" descr="curvas-convergenc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681843"/>
            <a:ext cx="5852160" cy="418011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 112k imágenes todos mejoran ~0.05</a:t>
            </a:r>
            <a:endParaRPr lang="en-US" sz="2800" dirty="0"/>
          </a:p>
        </p:txBody>
      </p:sp>
      <p:graphicFrame>
        <p:nvGraphicFramePr>
          <p:cNvPr id="7" name="tabla-112k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737360"/>
                <a:gridCol w="3291840"/>
                <a:gridCol w="1737360"/>
                <a:gridCol w="20116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Modelo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AUROC 12k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AUROC 112k [IC 95%]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Cambio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Mejor época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A78D6"/>
                          </a:solidFill>
                        </a:rPr>
                        <a:t>● 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</a:rPr>
                        <a:t>DenseNet121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0.745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0.792  [0.785, 0.799]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+0.046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3 → 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B6834"/>
                          </a:solidFill>
                        </a:rPr>
                        <a:t>● 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</a:rPr>
                        <a:t>ResNet18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0.749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</a:rPr>
                        <a:t>0.799  [0.792, 0.806]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+0.050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2 → 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AF7A"/>
                          </a:solidFill>
                        </a:rPr>
                        <a:t>● 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</a:rPr>
                        <a:t>ViT-B/16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0.742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0.793  [0.787, 0.799]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+0.051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3 → 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DA100"/>
                          </a:solidFill>
                        </a:rPr>
                        <a:t>● 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</a:rPr>
                        <a:t>MaxViT-T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0.733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0.790  [0.783, 0.797]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</a:rPr>
                        <a:t>+0.057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5 → 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6250D6"/>
                          </a:solidFill>
                        </a:rPr>
                        <a:t>● 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</a:rPr>
                        <a:t>Ensemble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0.767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</a:rPr>
                        <a:t>0.813  [0.807, 0.820]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+0.046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</a:rPr>
                        <a:t>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4" name="hallazgo112k-0"/>
          <p:cNvSpPr/>
          <p:nvPr/>
        </p:nvSpPr>
        <p:spPr>
          <a:xfrm>
            <a:off x="548640" y="420624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43434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El híbrido es el que más gana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MaxViT-T +0.057 y ahora converge (mejor época 4): le faltaban datos</a:t>
            </a:r>
            <a:endParaRPr lang="en-US" sz="1600" dirty="0"/>
          </a:p>
        </p:txBody>
      </p:sp>
      <p:sp>
        <p:nvSpPr>
          <p:cNvPr id="6" name="hallazgo112k-1"/>
          <p:cNvSpPr/>
          <p:nvPr/>
        </p:nvSpPr>
        <p:spPr>
          <a:xfrm>
            <a:off x="4297680" y="420624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26280" y="43434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El ensemble sigue arriba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AUROC 0.813, significativamente mejor que cada modelo</a:t>
            </a:r>
            <a:endParaRPr lang="en-US" sz="1600" dirty="0"/>
          </a:p>
        </p:txBody>
      </p:sp>
      <p:sp>
        <p:nvSpPr>
          <p:cNvPr id="8" name="hallazgo112k-2"/>
          <p:cNvSpPr/>
          <p:nvPr/>
        </p:nvSpPr>
        <p:spPr>
          <a:xfrm>
            <a:off x="8046720" y="420624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75320" y="43434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ResNet18, mejor individual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Con 9× más datos de prueba la diferencia ya es significativa, pero pequeña (&lt;0.01)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Mismo protocolo, incluido el fine-tuning parcial, con las 112,120 imágenes (prueba: 16,822); corrida en modo de bajo consumo para evitar los apagados del equipo.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Por hallazgo, la dificultad pesa más que la arquitectura</a:t>
            </a:r>
            <a:endParaRPr lang="en-US" sz="2800" dirty="0"/>
          </a:p>
        </p:txBody>
      </p:sp>
      <p:pic>
        <p:nvPicPr>
          <p:cNvPr id="3" name="auroc-por-clase" descr="auroc-por-cl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962" y="1234440"/>
            <a:ext cx="4776395" cy="5074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949440" y="1463040"/>
            <a:ext cx="4663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Más fáciles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Emphysema: 0.86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Edema: 0.85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Effusion: 0.84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Más difíciles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Pneumonia: 0.61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Nodule: 0.63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Infiltration: 0.67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5"/>
                </a:solidFill>
              </a:rPr>
              <a:t>Promedio de los cuatro modelos. Los hallazgos con pocos positivos en prueba (p. ej. Hernia, n=8) tienen estimaciones inestables.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ViT y MaxViT: ~13× más lentos que ResNet18</a:t>
            </a:r>
            <a:endParaRPr lang="en-US" sz="2800" dirty="0"/>
          </a:p>
        </p:txBody>
      </p:sp>
      <p:graphicFrame>
        <p:nvGraphicFramePr>
          <p:cNvPr id="3" name="costo-0" descr=""/>
          <p:cNvGraphicFramePr/>
          <p:nvPr/>
        </p:nvGraphicFramePr>
        <p:xfrm>
          <a:off x="548640" y="1325880"/>
          <a:ext cx="3566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osto-1" descr=""/>
          <p:cNvGraphicFramePr/>
          <p:nvPr/>
        </p:nvGraphicFramePr>
        <p:xfrm>
          <a:off x="4297680" y="1325880"/>
          <a:ext cx="3566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osto-2" descr=""/>
          <p:cNvGraphicFramePr/>
          <p:nvPr/>
        </p:nvGraphicFramePr>
        <p:xfrm>
          <a:off x="8046720" y="1325880"/>
          <a:ext cx="3566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 1"/>
          <p:cNvSpPr txBox="1"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Tiempo total de entrenamiento (5 épocas): DenseNet121 190 s · ResNet18 187 s · ViT-B/16 275 s · MaxViT-T 215 s. Entre los modelos individuales, ResNet18 es el mejor compromiso: el más rápido y el que menos memoria usa.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¿Dónde miran los modelos?</a:t>
            </a:r>
            <a:endParaRPr lang="en-US" sz="2800" dirty="0"/>
          </a:p>
        </p:txBody>
      </p:sp>
      <p:pic>
        <p:nvPicPr>
          <p:cNvPr id="3" name="gradcam" descr="gradc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560" y="1188720"/>
            <a:ext cx="6339840" cy="4754880"/>
          </a:xfrm>
          <a:prstGeom prst="rect">
            <a:avLst/>
          </a:prstGeom>
        </p:spPr>
      </p:pic>
      <p:pic>
        <p:nvPicPr>
          <p:cNvPr id="4" name="atencion-vit" descr="atencion-v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325880"/>
            <a:ext cx="4480560" cy="44805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65760" y="59893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Grad-CAM: DenseNet121, ResNet18 y MaxViT-T (híbrido), para la clase real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7406640" y="5989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ViT-B/16: atención del último bloque y rollout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Conclusiones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99032"/>
            <a:ext cx="274320" cy="2743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325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Desempeño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Rinden casi igual (AUROC 0.73–0.75); con 112k todos suben ~0.05 y ResNet18 gana por &lt;0.01.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74320" cy="27432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35000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Ensemble e híbrido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Combinar los cuatro mejora a todos (AUROC 0.767). Con 112k llega a 0.813. El híbrido es el que más gana con más datos.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447288"/>
            <a:ext cx="274320" cy="2743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3374136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Costo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ResNet18 es el mejor compromiso individual; ViT y MaxViT son ~13× más lentos sin rendir más.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4471416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4398264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Método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Split por paciente, umbral en validación, intervalos de confianza y repetir el experimento evitaron sobreinterpretar diferencias pequeñas.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Limitaciones: resultados principales con 12k imágenes (confirmados con 112k), etiquetas ruidosas, 5 épocas con fine-tuning parcial, una semilla por corrida, 224 px. Trabajo futuro: fine-tuning completo (todas las capas) sobre las 112k imágenes, aprendizaje auto-supervisado sobre radiografías sin etiquetar, y multimodalidad (edad, sexo, proyección y texto del reporte).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3D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diografia">
  <a:themeElements>
    <a:clrScheme name="Radiografia">
      <a:dk1>
        <a:srgbClr val="1B2430"/>
      </a:dk1>
      <a:lt1>
        <a:srgbClr val="FFFFFF"/>
      </a:lt1>
      <a:dk2>
        <a:srgbClr val="3A4756"/>
      </a:dk2>
      <a:lt2>
        <a:srgbClr val="EEF2F5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B7A8C"/>
      </a:accent5>
      <a:accent6>
        <a:srgbClr val="C9D3DD"/>
      </a:accent6>
      <a:hlink>
        <a:srgbClr val="2A78D6"/>
      </a:hlink>
      <a:folHlink>
        <a:srgbClr val="6B7A8C"/>
      </a:folHlink>
    </a:clrScheme>
    <a:fontScheme name="Radiografi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CNN, Transformer e híbrido CNN-Transformer en NIH ChestX-ray14</dc:title>
  <dc:subject>PptxGenJS Presentation</dc:subject>
  <dc:creator>Alfredo Gallegos López</dc:creator>
  <cp:lastModifiedBy>Alfredo Gallegos López</cp:lastModifiedBy>
  <cp:revision>1</cp:revision>
  <dcterms:created xsi:type="dcterms:W3CDTF">2026-10-15T18:09:07Z</dcterms:created>
  <dcterms:modified xsi:type="dcterms:W3CDTF">2026-10-15T18:09:07Z</dcterms:modified>
</cp:coreProperties>
</file>