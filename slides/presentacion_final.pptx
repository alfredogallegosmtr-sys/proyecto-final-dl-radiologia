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1d38ae1e-6d0c-9004-d72c-d6b9ba5d589c}">
          <p14:sldIdLst>
            <p14:sldId id="256"/>
            <p14:sldId id="257"/>
          </p14:sldIdLst>
        </p14:section>
        <p14:section name="Método" id="{edef95be-7fd6-2944-bf4c-1bb662dfbf17}">
          <p14:sldIdLst>
            <p14:sldId id="258"/>
          </p14:sldIdLst>
        </p14:section>
        <p14:section name="Resultados" id="{4c340ee9-6335-885d-2379-f9fafde95c1e}">
          <p14:sldIdLst>
            <p14:sldId id="259"/>
            <p14:sldId id="260"/>
            <p14:sldId id="261"/>
            <p14:sldId id="262"/>
            <p14:sldId id="263"/>
            <p14:sldId id="264"/>
          </p14:sldIdLst>
        </p14:section>
        <p14:section name="Cierre" id="{b7c12d51-d2c9-6b79-10cc-d7726bd3bfe1}">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Parámetros totales (millones)</a:t>
            </a:r>
          </a:p>
        </c:rich>
      </c:tx>
      <c:layout/>
      <c:overlay val="0"/>
    </c:title>
    <c:autoTitleDeleted val="0"/>
    <c:plotArea>
      <c:layout/>
      <c:barChart>
        <c:barDir val="col"/>
        <c:grouping val="clustered"/>
        <c:varyColors val="0"/>
        <c:ser>
          <c:idx val="0"/>
          <c:order val="0"/>
          <c:tx>
            <c:strRef>
              <c:f>Sheet1!$B$1</c:f>
              <c:strCache>
                <c:ptCount val="1"/>
                <c:pt idx="0">
                  <c:v>Parámetros totales (millones)</c:v>
                </c:pt>
              </c:strCache>
            </c:strRef>
          </c:tx>
          <c:spPr>
            <a:solidFill>
              <a:srgbClr val="2A78D6"/>
            </a:solidFill>
            <a:effectLst/>
          </c:spPr>
          <c:invertIfNegative val="0"/>
          <c:dLbls>
            <c:numFmt formatCode="0.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DenseNet121</c:v>
                  </c:pt>
                  <c:pt idx="1">
                    <c:v>ResNet18</c:v>
                  </c:pt>
                  <c:pt idx="2">
                    <c:v>ViT-B/16</c:v>
                  </c:pt>
                  <c:pt idx="3">
                    <c:v>MaxViT-T</c:v>
                  </c:pt>
                </c:lvl>
              </c:multiLvlStrCache>
            </c:multiLvlStrRef>
          </c:cat>
          <c:val>
            <c:numRef>
              <c:f>Sheet1!$B$2:$B$5</c:f>
              <c:numCache>
                <c:formatCode>General</c:formatCode>
                <c:ptCount val="4"/>
                <c:pt idx="0">
                  <c:v>7</c:v>
                </c:pt>
                <c:pt idx="1">
                  <c:v>11.2</c:v>
                </c:pt>
                <c:pt idx="2">
                  <c:v>85.8</c:v>
                </c:pt>
                <c:pt idx="3">
                  <c:v>30.4</c:v>
                </c:pt>
              </c:numCache>
            </c:numRef>
          </c:val>
        </c:ser>
        <c:dLbls>
          <c:numFmt formatCode="0.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756"/>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Memoria GPU pico (MB)</a:t>
            </a:r>
          </a:p>
        </c:rich>
      </c:tx>
      <c:layout/>
      <c:overlay val="0"/>
    </c:title>
    <c:autoTitleDeleted val="0"/>
    <c:plotArea>
      <c:layout/>
      <c:barChart>
        <c:barDir val="col"/>
        <c:grouping val="clustered"/>
        <c:varyColors val="0"/>
        <c:ser>
          <c:idx val="0"/>
          <c:order val="0"/>
          <c:tx>
            <c:strRef>
              <c:f>Sheet1!$B$1</c:f>
              <c:strCache>
                <c:ptCount val="1"/>
                <c:pt idx="0">
                  <c:v>Memoria GPU pico (MB)</c:v>
                </c:pt>
              </c:strCache>
            </c:strRef>
          </c:tx>
          <c:spPr>
            <a:solidFill>
              <a:srgbClr val="2A78D6"/>
            </a:solidFill>
            <a:effectLst/>
          </c:spPr>
          <c:invertIfNegative val="0"/>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DenseNet121</c:v>
                  </c:pt>
                  <c:pt idx="1">
                    <c:v>ResNet18</c:v>
                  </c:pt>
                  <c:pt idx="2">
                    <c:v>ViT-B/16</c:v>
                  </c:pt>
                  <c:pt idx="3">
                    <c:v>MaxViT-T</c:v>
                  </c:pt>
                </c:lvl>
              </c:multiLvlStrCache>
            </c:multiLvlStrRef>
          </c:cat>
          <c:val>
            <c:numRef>
              <c:f>Sheet1!$B$2:$B$5</c:f>
              <c:numCache>
                <c:formatCode>General</c:formatCode>
                <c:ptCount val="4"/>
                <c:pt idx="0">
                  <c:v>442</c:v>
                </c:pt>
                <c:pt idx="1">
                  <c:v>418</c:v>
                </c:pt>
                <c:pt idx="2">
                  <c:v>980</c:v>
                </c:pt>
                <c:pt idx="3">
                  <c:v>1315</c:v>
                </c:pt>
              </c:numCache>
            </c:numRef>
          </c:val>
        </c:ser>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756"/>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Inferencia (imágenes/s)</a:t>
            </a:r>
          </a:p>
        </c:rich>
      </c:tx>
      <c:layout/>
      <c:overlay val="0"/>
    </c:title>
    <c:autoTitleDeleted val="0"/>
    <c:plotArea>
      <c:layout/>
      <c:barChart>
        <c:barDir val="col"/>
        <c:grouping val="clustered"/>
        <c:varyColors val="0"/>
        <c:ser>
          <c:idx val="0"/>
          <c:order val="0"/>
          <c:tx>
            <c:strRef>
              <c:f>Sheet1!$B$1</c:f>
              <c:strCache>
                <c:ptCount val="1"/>
                <c:pt idx="0">
                  <c:v>Inferencia (imágenes/s)</c:v>
                </c:pt>
              </c:strCache>
            </c:strRef>
          </c:tx>
          <c:spPr>
            <a:solidFill>
              <a:srgbClr val="2A78D6"/>
            </a:solidFill>
            <a:effectLst/>
          </c:spPr>
          <c:invertIfNegative val="0"/>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DenseNet121</c:v>
                  </c:pt>
                  <c:pt idx="1">
                    <c:v>ResNet18</c:v>
                  </c:pt>
                  <c:pt idx="2">
                    <c:v>ViT-B/16</c:v>
                  </c:pt>
                  <c:pt idx="3">
                    <c:v>MaxViT-T</c:v>
                  </c:pt>
                </c:lvl>
              </c:multiLvlStrCache>
            </c:multiLvlStrRef>
          </c:cat>
          <c:val>
            <c:numRef>
              <c:f>Sheet1!$B$2:$B$5</c:f>
              <c:numCache>
                <c:formatCode>General</c:formatCode>
                <c:ptCount val="4"/>
                <c:pt idx="0">
                  <c:v>1156</c:v>
                </c:pt>
                <c:pt idx="1">
                  <c:v>4754</c:v>
                </c:pt>
                <c:pt idx="2">
                  <c:v>360</c:v>
                </c:pt>
                <c:pt idx="3">
                  <c:v>373</c:v>
                </c:pt>
              </c:numCache>
            </c:numRef>
          </c:val>
        </c:ser>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756"/>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Presento una comparación de cuatro arquitecturas para detectar 14 hallazgos en radiografías de tórax: dos redes convolucionales, DenseNet121 y ResNet18; un Vision Transformer, ViT-B/16; y un híbrido que combina convoluciones y atención, MaxViT-T. Además combino los cuatro en un ensemble. La pregunta es qué enfoque conviene en este problema bajo un mismo presupuesto.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NIH ChestX-ray14 tiene 112 mil radiografías de unos 30 mil pacientes, con 14 hallazgos que pueden aparecer juntos. Las etiquetas se extrajeron automáticamente de los reportes, así que tienen ruido, y las clases están muy desbalanceadas: Hernia aparece en 0.2% de las imágenes e Infiltration en 18%. Por eso la exactitud no sirve y la métrica principal es el AUROC.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cuatro modelos se entrenan exactamente igual. La partición es por paciente, para que el modelo nunca se evalúe sobre un paciente que ya vio. El desbalance se trata en la evaluación: AUROC, que no depende de la prevalencia, y un umbral por clase elegido en validación. Hice fine-tuning parcial: parto de los pesos de ImageNet y ajusto solo el último bloque y la capa de salida. Por cuatro razones: las primeras capas aprenden rasgos genéricos como bordes y texturas que sirven igual en radiografías; con 8,400 imágenes, ajustar los 86 millones de parámetros del ViT sobreajustaría; el presupuesto de cómputo no daba para fine-tuning completo de cuatro modelos; y aplicar la misma regla a todos mantiene la comparación justa. En el híbrido descongelé solo su última capa para que su capacidad entrenable sea comparable. Y el ensemble es simplemente el promedio de las probabilidades de los cuatro.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métrica principal es el AUROC promedio. Los cuatro modelos individuales quedan entre 0.733 y 0.749, y ninguna diferencia entre ellos es significativa. Además, repetí el experimento y el orden cambió: en la corrida anterior ResNet18 parecía significativamente mejor que DenseNet121 y en esta ya no. El ensemble, en cambio, mejora a todos con significancia: AUROC 0.767. La exactitud es igual a la de un modelo que siempre dice 'sano', por eso no sirve para comparar.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está la parte exploratoria. El ensemble, que solo promedia las probabilidades, mejora a cada modelo entre 0.018 y 0.034 de AUROC, todas significativas: los modelos cometen errores distintos. Su costo es ejecutar los cuatro. El híbrido MaxViT-T quedó con el AUROC más bajo, pero la curva explica por qué: es el único cuya pérdida de validación seguía bajando en la quinta época. En la literatura los híbridos son los mejores en este dataset, pero con entrenamiento completo; con este presupuesto no alcanzó a converger.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También repetí todo con el dataset completo, 112 mil imágenes. Para que la computadora no se apagara, lo corrí en modo de bajo consumo: la GPU descansa la mitad del tiempo, sin cambiar el entrenamiento. Resultado: todos mejoran unos 0.05 de AUROC, y el híbrido es el que más gana, 0.057, y ahora sí converge; le faltaban datos. El ensemble sigue siendo el mejor, con 0.813, cerca de CheXNet. Y con un conjunto de prueba nueve veces mayor, ResNet18 ya es significativamente el mejor modelo individual, aunque por menos de 0.01. Las conclusiones se sostienen.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diferencias entre hallazgos son mucho mayores que entre modelos. Los más fáciles son Emphysema, Edema, Effusion; los más difíciles, Pneumonia, Nodule, Infiltration: lesiones pequeñas como los nódulos o con etiquetas ambiguas como neumonía e infiltración. Todos los modelos siguen el mismo patrón, lo que sugiere que el límite está en los datos y la resolución más que en la arquitectura.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costo es donde los modelos sí se separan. ViT-B/16 tiene 12 veces los parámetros de DenseNet121, y tanto el ViT como el híbrido son unas 13 veces más lentos que ResNet18 en inferencia, sin rendir más. Con desempeño equivalente, ResNet18 es el mejor compromiso individual; si se busca el máximo desempeño, el ensemble, pagando el costo de correr los cuatro. Nota: en ROCm no hay atención eficiente en memoria, así que los modelos con atención salen algo pesimistas.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derrame pleural, con probabilidades altas, las CNN miran la región torácica correcta. En la infiltración, con probabilidades bajas, los mapas se van a los bordes de la imagen, a la marca de texto 'PORTABLE' o fuera de los pulmones: señal de posibles atajos, un problema conocido en este dataset. Para el ViT, la atención del último bloque sí recorre los campos pulmonares, mientras que el rollout se concentra en las esquinas, un artefacto conocido. Son ejemplos cualitativos, no una medida de localización.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resumen: con el mismo presupuesto, ninguna arquitectura domina; la diferencia real está en el costo, donde ResNet18 es el más eficiente. Lo que sí mejora el desempeño es combinar los modelos. Con el dataset completo todo mejora unos 0.05 y las conclusiones se sostienen; el híbrido es el que más se beneficia de tener más datos. Y metodológicamente, evaluar bien —por paciente, con umbrales en validación, intervalos de confianza y repitiendo el experimento— fue lo que evitó conclusiones engañosas. Como siguientes pasos: entrenar con todo el dataset, preentrenamiento auto-supervisado y multimodalidad.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1B2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82880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886200"/>
            <a:ext cx="10698480" cy="146304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2800" b="1" dirty="0">
                <a:solidFill>
                  <a:schemeClr val="tx1"/>
                </a:solidFill>
              </a:defRPr>
            </a:lvl1pPr>
          </a:lstStyle>
          <a:p>
            <a:pPr indent="0" marL="0">
              <a:buNone/>
            </a:pPr>
            <a:endParaRPr lang="en-US" sz="28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Proyecto Final · Deep Learning · NIH ChestX-ray14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solidFill>
          <a:srgbClr val="1B2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2800" b="1" dirty="0">
                <a:solidFill>
                  <a:schemeClr val="bg1"/>
                </a:solidFill>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D"/>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828800"/>
          </a:xfrm>
          <a:prstGeom prst="rect">
            <a:avLst/>
          </a:prstGeom>
          <a:noFill/>
          <a:ln/>
        </p:spPr>
        <p:txBody>
          <a:bodyPr wrap="square" rtlCol="0" anchor="b"/>
          <a:lstStyle/>
          <a:p>
            <a:pPr indent="0" marL="0">
              <a:buNone/>
            </a:pPr>
            <a:r>
              <a:rPr lang="en-US" sz="4000" b="1" dirty="0">
                <a:solidFill>
                  <a:schemeClr val="bg1"/>
                </a:solidFill>
              </a:rPr>
              <a:t>¿CNN, Transformer o híbrido para radiografías de tórax?</a:t>
            </a:r>
            <a:endParaRPr lang="en-US" sz="4000" dirty="0"/>
          </a:p>
        </p:txBody>
      </p:sp>
      <p:sp>
        <p:nvSpPr>
          <p:cNvPr id="3" name="Text 0"/>
          <p:cNvSpPr/>
          <p:nvPr>
            <p:ph idx="101" type="body" hasCustomPrompt="1"/>
          </p:nvPr>
        </p:nvSpPr>
        <p:spPr>
          <a:xfrm>
            <a:off x="731520" y="3886200"/>
            <a:ext cx="10698480" cy="1463040"/>
          </a:xfrm>
          <a:prstGeom prst="rect">
            <a:avLst/>
          </a:prstGeom>
          <a:noFill/>
          <a:ln/>
        </p:spPr>
        <p:txBody>
          <a:bodyPr wrap="square" rtlCol="0" anchor="t"/>
          <a:lstStyle/>
          <a:p>
            <a:pPr indent="0" marL="0">
              <a:buNone/>
            </a:pPr>
            <a:r>
              <a:rPr lang="en-US" sz="1800" dirty="0">
                <a:solidFill>
                  <a:schemeClr val="accent6"/>
                </a:solidFill>
              </a:rPr>
              <a:t>Comparación de DenseNet121, ResNet18, ViT-B/16, MaxViT-T (híbrido) y un ensemble en NIH ChestX-ray14</a:t>
            </a:r>
            <a:endParaRPr lang="en-US" sz="1800" dirty="0"/>
          </a:p>
          <a:p>
            <a:pPr indent="0" marL="0">
              <a:buNone/>
            </a:pPr>
            <a:r>
              <a:rPr lang="en-US" sz="1400" dirty="0">
                <a:solidFill>
                  <a:schemeClr val="accent6"/>
                </a:solidFill>
              </a:rPr>
              <a:t>Alfredo Gallegos López · Universidad Panamericana, Aguascalientes · Proyecto Final de Deep Learning · Octubre 2026</a:t>
            </a:r>
            <a:endParaRPr lang="en-US" sz="1800" dirty="0"/>
          </a:p>
        </p:txBody>
      </p:sp>
      <p:sp>
        <p:nvSpPr>
          <p:cNvPr id="4" name="Shape 2"/>
          <p:cNvSpPr/>
          <p:nvPr/>
        </p:nvSpPr>
        <p:spPr>
          <a:xfrm>
            <a:off x="731520" y="1417320"/>
            <a:ext cx="182880" cy="182880"/>
          </a:xfrm>
          <a:prstGeom prst="ellipse">
            <a:avLst/>
          </a:prstGeom>
          <a:solidFill>
            <a:srgbClr val="2A78D6"/>
          </a:solidFill>
          <a:ln w="12700">
            <a:solidFill>
              <a:srgbClr val="2A78D6"/>
            </a:solidFill>
            <a:prstDash val="solid"/>
          </a:ln>
        </p:spPr>
      </p:sp>
      <p:sp>
        <p:nvSpPr>
          <p:cNvPr id="5" name="Shape 3"/>
          <p:cNvSpPr/>
          <p:nvPr/>
        </p:nvSpPr>
        <p:spPr>
          <a:xfrm>
            <a:off x="1051560" y="1417320"/>
            <a:ext cx="182880" cy="182880"/>
          </a:xfrm>
          <a:prstGeom prst="ellipse">
            <a:avLst/>
          </a:prstGeom>
          <a:solidFill>
            <a:srgbClr val="EB6834"/>
          </a:solidFill>
          <a:ln w="12700">
            <a:solidFill>
              <a:srgbClr val="EB6834"/>
            </a:solidFill>
            <a:prstDash val="solid"/>
          </a:ln>
        </p:spPr>
      </p:sp>
      <p:sp>
        <p:nvSpPr>
          <p:cNvPr id="6" name="Shape 4"/>
          <p:cNvSpPr/>
          <p:nvPr/>
        </p:nvSpPr>
        <p:spPr>
          <a:xfrm>
            <a:off x="1371600" y="1417320"/>
            <a:ext cx="182880" cy="182880"/>
          </a:xfrm>
          <a:prstGeom prst="ellipse">
            <a:avLst/>
          </a:prstGeom>
          <a:solidFill>
            <a:srgbClr val="1BAF7A"/>
          </a:solidFill>
          <a:ln w="12700">
            <a:solidFill>
              <a:srgbClr val="1BAF7A"/>
            </a:solidFill>
            <a:prstDash val="solid"/>
          </a:ln>
        </p:spPr>
      </p:sp>
      <p:sp>
        <p:nvSpPr>
          <p:cNvPr id="7" name="Shape 5"/>
          <p:cNvSpPr/>
          <p:nvPr/>
        </p:nvSpPr>
        <p:spPr>
          <a:xfrm>
            <a:off x="1691640" y="1417320"/>
            <a:ext cx="182880" cy="182880"/>
          </a:xfrm>
          <a:prstGeom prst="ellipse">
            <a:avLst/>
          </a:prstGeom>
          <a:solidFill>
            <a:srgbClr val="EDA100"/>
          </a:solidFill>
          <a:ln w="12700">
            <a:solidFill>
              <a:srgbClr val="EDA100"/>
            </a:solidFill>
            <a:prstDash val="solid"/>
          </a:ln>
        </p:spPr>
      </p:sp>
      <p:sp>
        <p:nvSpPr>
          <p:cNvPr id="8" name="Shape 6"/>
          <p:cNvSpPr/>
          <p:nvPr/>
        </p:nvSpPr>
        <p:spPr>
          <a:xfrm>
            <a:off x="2011680" y="1417320"/>
            <a:ext cx="182880" cy="182880"/>
          </a:xfrm>
          <a:prstGeom prst="ellipse">
            <a:avLst/>
          </a:prstGeom>
          <a:solidFill>
            <a:srgbClr val="6250D6"/>
          </a:solidFill>
          <a:ln w="12700">
            <a:solidFill>
              <a:srgbClr val="6250D6"/>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14 hallazgos, varios por imagen y muy desbalanceados</a:t>
            </a:r>
            <a:endParaRPr lang="en-US" sz="2800" dirty="0"/>
          </a:p>
        </p:txBody>
      </p:sp>
      <p:sp>
        <p:nvSpPr>
          <p:cNvPr id="3" name="stat-0"/>
          <p:cNvSpPr/>
          <p:nvPr/>
        </p:nvSpPr>
        <p:spPr>
          <a:xfrm>
            <a:off x="548640" y="1417320"/>
            <a:ext cx="2560320" cy="1600200"/>
          </a:xfrm>
          <a:prstGeom prst="roundRect">
            <a:avLst>
              <a:gd name="adj" fmla="val 6857"/>
            </a:avLst>
          </a:prstGeom>
          <a:solidFill>
            <a:srgbClr val="EEF2F5"/>
          </a:solidFill>
          <a:ln w="12700">
            <a:solidFill>
              <a:srgbClr val="EEF2F5"/>
            </a:solidFill>
            <a:prstDash val="solid"/>
          </a:ln>
        </p:spPr>
      </p:sp>
      <p:sp>
        <p:nvSpPr>
          <p:cNvPr id="4" name="Text 2"/>
          <p:cNvSpPr txBox="1"/>
          <p:nvPr/>
        </p:nvSpPr>
        <p:spPr>
          <a:xfrm>
            <a:off x="548640" y="1554480"/>
            <a:ext cx="2560320" cy="822960"/>
          </a:xfrm>
          <a:prstGeom prst="rect">
            <a:avLst/>
          </a:prstGeom>
          <a:noFill/>
          <a:ln/>
        </p:spPr>
        <p:txBody>
          <a:bodyPr wrap="square"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112,120</a:t>
            </a:r>
            <a:endParaRPr lang="en-US" sz="3600" dirty="0"/>
          </a:p>
        </p:txBody>
      </p:sp>
      <p:sp>
        <p:nvSpPr>
          <p:cNvPr id="5" name="Text 3"/>
          <p:cNvSpPr txBox="1"/>
          <p:nvPr/>
        </p:nvSpPr>
        <p:spPr>
          <a:xfrm>
            <a:off x="548640" y="2377440"/>
            <a:ext cx="2560320" cy="457200"/>
          </a:xfrm>
          <a:prstGeom prst="rect">
            <a:avLst/>
          </a:prstGeom>
          <a:noFill/>
          <a:ln/>
        </p:spPr>
        <p:txBody>
          <a:bodyPr wrap="square" rtlCol="0" anchor="ctr"/>
          <a:lstStyle/>
          <a:p>
            <a:pPr algn="ctr" indent="0" marL="0">
              <a:buNone/>
            </a:pPr>
            <a:r>
              <a:rPr lang="en-US" sz="1400" dirty="0">
                <a:solidFill>
                  <a:schemeClr val="tx2"/>
                </a:solidFill>
              </a:rPr>
              <a:t>radiografías frontales</a:t>
            </a:r>
            <a:endParaRPr lang="en-US" sz="1400" dirty="0"/>
          </a:p>
        </p:txBody>
      </p:sp>
      <p:sp>
        <p:nvSpPr>
          <p:cNvPr id="6" name="stat-1"/>
          <p:cNvSpPr/>
          <p:nvPr/>
        </p:nvSpPr>
        <p:spPr>
          <a:xfrm>
            <a:off x="3337560" y="1417320"/>
            <a:ext cx="2560320" cy="1600200"/>
          </a:xfrm>
          <a:prstGeom prst="roundRect">
            <a:avLst>
              <a:gd name="adj" fmla="val 6857"/>
            </a:avLst>
          </a:prstGeom>
          <a:solidFill>
            <a:srgbClr val="EEF2F5"/>
          </a:solidFill>
          <a:ln w="12700">
            <a:solidFill>
              <a:srgbClr val="EEF2F5"/>
            </a:solidFill>
            <a:prstDash val="solid"/>
          </a:ln>
        </p:spPr>
      </p:sp>
      <p:sp>
        <p:nvSpPr>
          <p:cNvPr id="7" name="Text 5"/>
          <p:cNvSpPr txBox="1"/>
          <p:nvPr/>
        </p:nvSpPr>
        <p:spPr>
          <a:xfrm>
            <a:off x="3337560" y="1554480"/>
            <a:ext cx="2560320" cy="822960"/>
          </a:xfrm>
          <a:prstGeom prst="rect">
            <a:avLst/>
          </a:prstGeom>
          <a:noFill/>
          <a:ln/>
        </p:spPr>
        <p:txBody>
          <a:bodyPr wrap="square"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30,805</a:t>
            </a:r>
            <a:endParaRPr lang="en-US" sz="3600" dirty="0"/>
          </a:p>
        </p:txBody>
      </p:sp>
      <p:sp>
        <p:nvSpPr>
          <p:cNvPr id="8" name="Text 6"/>
          <p:cNvSpPr txBox="1"/>
          <p:nvPr/>
        </p:nvSpPr>
        <p:spPr>
          <a:xfrm>
            <a:off x="3337560" y="2377440"/>
            <a:ext cx="2560320" cy="457200"/>
          </a:xfrm>
          <a:prstGeom prst="rect">
            <a:avLst/>
          </a:prstGeom>
          <a:noFill/>
          <a:ln/>
        </p:spPr>
        <p:txBody>
          <a:bodyPr wrap="square" rtlCol="0" anchor="ctr"/>
          <a:lstStyle/>
          <a:p>
            <a:pPr algn="ctr" indent="0" marL="0">
              <a:buNone/>
            </a:pPr>
            <a:r>
              <a:rPr lang="en-US" sz="1400" dirty="0">
                <a:solidFill>
                  <a:schemeClr val="tx2"/>
                </a:solidFill>
              </a:rPr>
              <a:t>pacientes</a:t>
            </a:r>
            <a:endParaRPr lang="en-US" sz="1400" dirty="0"/>
          </a:p>
        </p:txBody>
      </p:sp>
      <p:sp>
        <p:nvSpPr>
          <p:cNvPr id="9" name="stat-2"/>
          <p:cNvSpPr/>
          <p:nvPr/>
        </p:nvSpPr>
        <p:spPr>
          <a:xfrm>
            <a:off x="6126480" y="1417320"/>
            <a:ext cx="2560320" cy="1600200"/>
          </a:xfrm>
          <a:prstGeom prst="roundRect">
            <a:avLst>
              <a:gd name="adj" fmla="val 6857"/>
            </a:avLst>
          </a:prstGeom>
          <a:solidFill>
            <a:srgbClr val="EEF2F5"/>
          </a:solidFill>
          <a:ln w="12700">
            <a:solidFill>
              <a:srgbClr val="EEF2F5"/>
            </a:solidFill>
            <a:prstDash val="solid"/>
          </a:ln>
        </p:spPr>
      </p:sp>
      <p:sp>
        <p:nvSpPr>
          <p:cNvPr id="10" name="Text 8"/>
          <p:cNvSpPr txBox="1"/>
          <p:nvPr/>
        </p:nvSpPr>
        <p:spPr>
          <a:xfrm>
            <a:off x="6126480" y="1554480"/>
            <a:ext cx="2560320" cy="822960"/>
          </a:xfrm>
          <a:prstGeom prst="rect">
            <a:avLst/>
          </a:prstGeom>
          <a:noFill/>
          <a:ln/>
        </p:spPr>
        <p:txBody>
          <a:bodyPr wrap="square"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14</a:t>
            </a:r>
            <a:endParaRPr lang="en-US" sz="3600" dirty="0"/>
          </a:p>
        </p:txBody>
      </p:sp>
      <p:sp>
        <p:nvSpPr>
          <p:cNvPr id="11" name="Text 9"/>
          <p:cNvSpPr txBox="1"/>
          <p:nvPr/>
        </p:nvSpPr>
        <p:spPr>
          <a:xfrm>
            <a:off x="6126480" y="2377440"/>
            <a:ext cx="2560320" cy="457200"/>
          </a:xfrm>
          <a:prstGeom prst="rect">
            <a:avLst/>
          </a:prstGeom>
          <a:noFill/>
          <a:ln/>
        </p:spPr>
        <p:txBody>
          <a:bodyPr wrap="square" rtlCol="0" anchor="ctr"/>
          <a:lstStyle/>
          <a:p>
            <a:pPr algn="ctr" indent="0" marL="0">
              <a:buNone/>
            </a:pPr>
            <a:r>
              <a:rPr lang="en-US" sz="1400" dirty="0">
                <a:solidFill>
                  <a:schemeClr val="tx2"/>
                </a:solidFill>
              </a:rPr>
              <a:t>hallazgos (multi-etiqueta)</a:t>
            </a:r>
            <a:endParaRPr lang="en-US" sz="1400" dirty="0"/>
          </a:p>
        </p:txBody>
      </p:sp>
      <p:sp>
        <p:nvSpPr>
          <p:cNvPr id="12" name="stat-3"/>
          <p:cNvSpPr/>
          <p:nvPr/>
        </p:nvSpPr>
        <p:spPr>
          <a:xfrm>
            <a:off x="8915400" y="1417320"/>
            <a:ext cx="2560320" cy="1600200"/>
          </a:xfrm>
          <a:prstGeom prst="roundRect">
            <a:avLst>
              <a:gd name="adj" fmla="val 6857"/>
            </a:avLst>
          </a:prstGeom>
          <a:solidFill>
            <a:srgbClr val="EEF2F5"/>
          </a:solidFill>
          <a:ln w="12700">
            <a:solidFill>
              <a:srgbClr val="EEF2F5"/>
            </a:solidFill>
            <a:prstDash val="solid"/>
          </a:ln>
        </p:spPr>
      </p:sp>
      <p:sp>
        <p:nvSpPr>
          <p:cNvPr id="13" name="Text 11"/>
          <p:cNvSpPr txBox="1"/>
          <p:nvPr/>
        </p:nvSpPr>
        <p:spPr>
          <a:xfrm>
            <a:off x="8915400" y="1554480"/>
            <a:ext cx="2560320" cy="822960"/>
          </a:xfrm>
          <a:prstGeom prst="rect">
            <a:avLst/>
          </a:prstGeom>
          <a:noFill/>
          <a:ln/>
        </p:spPr>
        <p:txBody>
          <a:bodyPr wrap="square"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0.2–18%</a:t>
            </a:r>
            <a:endParaRPr lang="en-US" sz="3600" dirty="0"/>
          </a:p>
        </p:txBody>
      </p:sp>
      <p:sp>
        <p:nvSpPr>
          <p:cNvPr id="14" name="Text 12"/>
          <p:cNvSpPr txBox="1"/>
          <p:nvPr/>
        </p:nvSpPr>
        <p:spPr>
          <a:xfrm>
            <a:off x="8915400" y="2377440"/>
            <a:ext cx="2560320" cy="457200"/>
          </a:xfrm>
          <a:prstGeom prst="rect">
            <a:avLst/>
          </a:prstGeom>
          <a:noFill/>
          <a:ln/>
        </p:spPr>
        <p:txBody>
          <a:bodyPr wrap="square" rtlCol="0" anchor="ctr"/>
          <a:lstStyle/>
          <a:p>
            <a:pPr algn="ctr" indent="0" marL="0">
              <a:buNone/>
            </a:pPr>
            <a:r>
              <a:rPr lang="en-US" sz="1400" dirty="0">
                <a:solidFill>
                  <a:schemeClr val="tx2"/>
                </a:solidFill>
              </a:rPr>
              <a:t>prevalencia por hallazgo</a:t>
            </a:r>
            <a:endParaRPr lang="en-US" sz="1400" dirty="0"/>
          </a:p>
        </p:txBody>
      </p:sp>
      <p:pic>
        <p:nvPicPr>
          <p:cNvPr id="15" name="ejemplos-dataset" descr="ejemplos-dataset">    </p:cNvPr>
          <p:cNvPicPr>
            <a:picLocks noChangeAspect="1"/>
          </p:cNvPicPr>
          <p:nvPr/>
        </p:nvPicPr>
        <p:blipFill>
          <a:blip r:embed="rId1"/>
          <a:stretch>
            <a:fillRect/>
          </a:stretch>
        </p:blipFill>
        <p:spPr>
          <a:xfrm>
            <a:off x="800100" y="3246120"/>
            <a:ext cx="10561320" cy="3017520"/>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Mismo protocolo y mismo presupuesto para los cuatro modelos</a:t>
            </a:r>
            <a:endParaRPr lang="en-US" sz="2800" dirty="0"/>
          </a:p>
        </p:txBody>
      </p:sp>
      <p:sp>
        <p:nvSpPr>
          <p:cNvPr id="3" name="paso-1"/>
          <p:cNvSpPr/>
          <p:nvPr/>
        </p:nvSpPr>
        <p:spPr>
          <a:xfrm>
            <a:off x="548640" y="1371600"/>
            <a:ext cx="548640" cy="548640"/>
          </a:xfrm>
          <a:prstGeom prst="ellipse">
            <a:avLst/>
          </a:prstGeom>
          <a:solidFill>
            <a:srgbClr val="1B2430"/>
          </a:solidFill>
          <a:ln w="12700">
            <a:solidFill>
              <a:srgbClr val="1B2430"/>
            </a:solidFill>
            <a:prstDash val="solid"/>
          </a:ln>
        </p:spPr>
      </p:sp>
      <p:sp>
        <p:nvSpPr>
          <p:cNvPr id="4" name="Text 2"/>
          <p:cNvSpPr txBox="1"/>
          <p:nvPr/>
        </p:nvSpPr>
        <p:spPr>
          <a:xfrm>
            <a:off x="548640" y="1371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280160" y="1280160"/>
            <a:ext cx="5120640" cy="1051560"/>
          </a:xfrm>
          <a:prstGeom prst="rect">
            <a:avLst/>
          </a:prstGeom>
          <a:noFill/>
          <a:ln/>
        </p:spPr>
        <p:txBody>
          <a:bodyPr wrap="square" lIns="0" tIns="0" rIns="0" bIns="0" rtlCol="0" anchor="t"/>
          <a:lstStyle/>
          <a:p>
            <a:pPr indent="0" marL="0">
              <a:buNone/>
            </a:pPr>
            <a:r>
              <a:rPr lang="en-US" sz="1800" b="1" dirty="0">
                <a:solidFill>
                  <a:schemeClr val="tx1"/>
                </a:solidFill>
              </a:rPr>
              <a:t>Datos</a:t>
            </a:r>
            <a:endParaRPr lang="en-US" sz="1800" dirty="0"/>
          </a:p>
          <a:p>
            <a:pPr indent="0" marL="0">
              <a:buNone/>
            </a:pPr>
            <a:r>
              <a:rPr lang="en-US" sz="1400" dirty="0">
                <a:solidFill>
                  <a:schemeClr val="tx2"/>
                </a:solidFill>
              </a:rPr>
              <a:t>12,000 imágenes al azar; split por paciente 70/15/15 (8,400 de entrenamiento)</a:t>
            </a:r>
            <a:endParaRPr lang="en-US" sz="1800" dirty="0"/>
          </a:p>
        </p:txBody>
      </p:sp>
      <p:sp>
        <p:nvSpPr>
          <p:cNvPr id="6" name="paso-2"/>
          <p:cNvSpPr/>
          <p:nvPr/>
        </p:nvSpPr>
        <p:spPr>
          <a:xfrm>
            <a:off x="548640" y="2560320"/>
            <a:ext cx="548640" cy="548640"/>
          </a:xfrm>
          <a:prstGeom prst="ellipse">
            <a:avLst/>
          </a:prstGeom>
          <a:solidFill>
            <a:srgbClr val="1B2430"/>
          </a:solidFill>
          <a:ln w="12700">
            <a:solidFill>
              <a:srgbClr val="1B2430"/>
            </a:solidFill>
            <a:prstDash val="solid"/>
          </a:ln>
        </p:spPr>
      </p:sp>
      <p:sp>
        <p:nvSpPr>
          <p:cNvPr id="7" name="Text 5"/>
          <p:cNvSpPr txBox="1"/>
          <p:nvPr/>
        </p:nvSpPr>
        <p:spPr>
          <a:xfrm>
            <a:off x="548640" y="2560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8" name="Text 6"/>
          <p:cNvSpPr txBox="1"/>
          <p:nvPr/>
        </p:nvSpPr>
        <p:spPr>
          <a:xfrm>
            <a:off x="1280160" y="2468880"/>
            <a:ext cx="5120640" cy="1051560"/>
          </a:xfrm>
          <a:prstGeom prst="rect">
            <a:avLst/>
          </a:prstGeom>
          <a:noFill/>
          <a:ln/>
        </p:spPr>
        <p:txBody>
          <a:bodyPr wrap="square" lIns="0" tIns="0" rIns="0" bIns="0" rtlCol="0" anchor="t"/>
          <a:lstStyle/>
          <a:p>
            <a:pPr indent="0" marL="0">
              <a:buNone/>
            </a:pPr>
            <a:r>
              <a:rPr lang="en-US" sz="1800" b="1" dirty="0">
                <a:solidFill>
                  <a:schemeClr val="tx1"/>
                </a:solidFill>
              </a:rPr>
              <a:t>Entrada</a:t>
            </a:r>
            <a:endParaRPr lang="en-US" sz="1800" dirty="0"/>
          </a:p>
          <a:p>
            <a:pPr indent="0" marL="0">
              <a:buNone/>
            </a:pPr>
            <a:r>
              <a:rPr lang="en-US" sz="1400" dirty="0">
                <a:solidFill>
                  <a:schemeClr val="tx2"/>
                </a:solidFill>
              </a:rPr>
              <a:t>1024 → 224 px, normalización ImageNet, volteo horizontal; desbalance tratado con AUROC y umbral por clase</a:t>
            </a:r>
            <a:endParaRPr lang="en-US" sz="1800" dirty="0"/>
          </a:p>
        </p:txBody>
      </p:sp>
      <p:sp>
        <p:nvSpPr>
          <p:cNvPr id="9" name="paso-3"/>
          <p:cNvSpPr/>
          <p:nvPr/>
        </p:nvSpPr>
        <p:spPr>
          <a:xfrm>
            <a:off x="548640" y="3749040"/>
            <a:ext cx="548640" cy="548640"/>
          </a:xfrm>
          <a:prstGeom prst="ellipse">
            <a:avLst/>
          </a:prstGeom>
          <a:solidFill>
            <a:srgbClr val="1B2430"/>
          </a:solidFill>
          <a:ln w="12700">
            <a:solidFill>
              <a:srgbClr val="1B2430"/>
            </a:solidFill>
            <a:prstDash val="solid"/>
          </a:ln>
        </p:spPr>
      </p:sp>
      <p:sp>
        <p:nvSpPr>
          <p:cNvPr id="10" name="Text 8"/>
          <p:cNvSpPr txBox="1"/>
          <p:nvPr/>
        </p:nvSpPr>
        <p:spPr>
          <a:xfrm>
            <a:off x="548640" y="37490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1" name="Text 9"/>
          <p:cNvSpPr txBox="1"/>
          <p:nvPr/>
        </p:nvSpPr>
        <p:spPr>
          <a:xfrm>
            <a:off x="1280160" y="3657600"/>
            <a:ext cx="5120640" cy="1051560"/>
          </a:xfrm>
          <a:prstGeom prst="rect">
            <a:avLst/>
          </a:prstGeom>
          <a:noFill/>
          <a:ln/>
        </p:spPr>
        <p:txBody>
          <a:bodyPr wrap="square" lIns="0" tIns="0" rIns="0" bIns="0" rtlCol="0" anchor="t"/>
          <a:lstStyle/>
          <a:p>
            <a:pPr indent="0" marL="0">
              <a:buNone/>
            </a:pPr>
            <a:r>
              <a:rPr lang="en-US" sz="1800" b="1" dirty="0">
                <a:solidFill>
                  <a:schemeClr val="tx1"/>
                </a:solidFill>
              </a:rPr>
              <a:t>Fine-tuning parcial</a:t>
            </a:r>
            <a:endParaRPr lang="en-US" sz="1800" dirty="0"/>
          </a:p>
          <a:p>
            <a:pPr indent="0" marL="0">
              <a:buNone/>
            </a:pPr>
            <a:r>
              <a:rPr lang="en-US" sz="1400" dirty="0">
                <a:solidFill>
                  <a:schemeClr val="tx2"/>
                </a:solidFill>
              </a:rPr>
              <a:t>Desde ImageNet se ajustan el último bloque + capa de 14 salidas; el resto, congelado. Adam 1e-4, 5 épocas, mejor época en validación</a:t>
            </a:r>
            <a:endParaRPr lang="en-US" sz="1800" dirty="0"/>
          </a:p>
        </p:txBody>
      </p:sp>
      <p:sp>
        <p:nvSpPr>
          <p:cNvPr id="12" name="paso-4"/>
          <p:cNvSpPr/>
          <p:nvPr/>
        </p:nvSpPr>
        <p:spPr>
          <a:xfrm>
            <a:off x="548640" y="4937760"/>
            <a:ext cx="548640" cy="548640"/>
          </a:xfrm>
          <a:prstGeom prst="ellipse">
            <a:avLst/>
          </a:prstGeom>
          <a:solidFill>
            <a:srgbClr val="1B2430"/>
          </a:solidFill>
          <a:ln w="12700">
            <a:solidFill>
              <a:srgbClr val="1B2430"/>
            </a:solidFill>
            <a:prstDash val="solid"/>
          </a:ln>
        </p:spPr>
      </p:sp>
      <p:sp>
        <p:nvSpPr>
          <p:cNvPr id="13" name="Text 11"/>
          <p:cNvSpPr txBox="1"/>
          <p:nvPr/>
        </p:nvSpPr>
        <p:spPr>
          <a:xfrm>
            <a:off x="548640" y="4937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4" name="Text 12"/>
          <p:cNvSpPr txBox="1"/>
          <p:nvPr/>
        </p:nvSpPr>
        <p:spPr>
          <a:xfrm>
            <a:off x="1280160" y="4846320"/>
            <a:ext cx="5120640" cy="1051560"/>
          </a:xfrm>
          <a:prstGeom prst="rect">
            <a:avLst/>
          </a:prstGeom>
          <a:noFill/>
          <a:ln/>
        </p:spPr>
        <p:txBody>
          <a:bodyPr wrap="square" lIns="0" tIns="0" rIns="0" bIns="0" rtlCol="0" anchor="t"/>
          <a:lstStyle/>
          <a:p>
            <a:pPr indent="0" marL="0">
              <a:buNone/>
            </a:pPr>
            <a:r>
              <a:rPr lang="en-US" sz="1800" b="1" dirty="0">
                <a:solidFill>
                  <a:schemeClr val="tx1"/>
                </a:solidFill>
              </a:rPr>
              <a:t>Evaluación</a:t>
            </a:r>
            <a:endParaRPr lang="en-US" sz="1800" dirty="0"/>
          </a:p>
          <a:p>
            <a:pPr indent="0" marL="0">
              <a:buNone/>
            </a:pPr>
            <a:r>
              <a:rPr lang="en-US" sz="1400" dirty="0">
                <a:solidFill>
                  <a:schemeClr val="tx2"/>
                </a:solidFill>
              </a:rPr>
              <a:t>AUROC, F1 (umbral elegido en validación), exactitud, IC 95% por bootstrap y comparación pareada</a:t>
            </a:r>
            <a:endParaRPr lang="en-US" sz="1800" dirty="0"/>
          </a:p>
        </p:txBody>
      </p:sp>
      <p:sp>
        <p:nvSpPr>
          <p:cNvPr id="15" name="modelo-densenet121"/>
          <p:cNvSpPr/>
          <p:nvPr/>
        </p:nvSpPr>
        <p:spPr>
          <a:xfrm>
            <a:off x="6949440" y="1325880"/>
            <a:ext cx="4663440" cy="1051560"/>
          </a:xfrm>
          <a:prstGeom prst="roundRect">
            <a:avLst>
              <a:gd name="adj" fmla="val 10435"/>
            </a:avLst>
          </a:prstGeom>
          <a:solidFill>
            <a:srgbClr val="EEF2F5"/>
          </a:solidFill>
          <a:ln w="12700">
            <a:solidFill>
              <a:srgbClr val="EEF2F5"/>
            </a:solidFill>
            <a:prstDash val="solid"/>
          </a:ln>
        </p:spPr>
      </p:sp>
      <p:sp>
        <p:nvSpPr>
          <p:cNvPr id="16" name="Shape 14"/>
          <p:cNvSpPr/>
          <p:nvPr/>
        </p:nvSpPr>
        <p:spPr>
          <a:xfrm>
            <a:off x="7178040" y="1527048"/>
            <a:ext cx="256032" cy="256032"/>
          </a:xfrm>
          <a:prstGeom prst="ellipse">
            <a:avLst/>
          </a:prstGeom>
          <a:solidFill>
            <a:srgbClr val="2A78D6"/>
          </a:solidFill>
          <a:ln w="12700">
            <a:solidFill>
              <a:srgbClr val="2A78D6"/>
            </a:solidFill>
            <a:prstDash val="solid"/>
          </a:ln>
        </p:spPr>
      </p:sp>
      <p:sp>
        <p:nvSpPr>
          <p:cNvPr id="17" name="Text 15"/>
          <p:cNvSpPr txBox="1"/>
          <p:nvPr/>
        </p:nvSpPr>
        <p:spPr>
          <a:xfrm>
            <a:off x="7589520" y="1417320"/>
            <a:ext cx="38404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DenseNet121</a:t>
            </a:r>
            <a:endParaRPr lang="en-US" sz="1800" dirty="0"/>
          </a:p>
        </p:txBody>
      </p:sp>
      <p:sp>
        <p:nvSpPr>
          <p:cNvPr id="18" name="Text 16"/>
          <p:cNvSpPr txBox="1"/>
          <p:nvPr/>
        </p:nvSpPr>
        <p:spPr>
          <a:xfrm>
            <a:off x="7589520" y="1828800"/>
            <a:ext cx="3886200" cy="457200"/>
          </a:xfrm>
          <a:prstGeom prst="rect">
            <a:avLst/>
          </a:prstGeom>
          <a:noFill/>
          <a:ln/>
        </p:spPr>
        <p:txBody>
          <a:bodyPr wrap="square" lIns="0" tIns="0" rIns="0" bIns="0" rtlCol="0" anchor="t"/>
          <a:lstStyle/>
          <a:p>
            <a:pPr indent="0" marL="0">
              <a:buNone/>
            </a:pPr>
            <a:r>
              <a:rPr lang="en-US" sz="1300" dirty="0">
                <a:solidFill>
                  <a:schemeClr val="tx2"/>
                </a:solidFill>
              </a:rPr>
              <a:t>CNN · conexiones densas (base de CheXNet) · 7.0M parám., se ajusta el 31% (2.2M)</a:t>
            </a:r>
            <a:endParaRPr lang="en-US" sz="1300" dirty="0"/>
          </a:p>
        </p:txBody>
      </p:sp>
      <p:sp>
        <p:nvSpPr>
          <p:cNvPr id="19" name="modelo-resnet18"/>
          <p:cNvSpPr/>
          <p:nvPr/>
        </p:nvSpPr>
        <p:spPr>
          <a:xfrm>
            <a:off x="6949440" y="2496312"/>
            <a:ext cx="4663440" cy="1051560"/>
          </a:xfrm>
          <a:prstGeom prst="roundRect">
            <a:avLst>
              <a:gd name="adj" fmla="val 10435"/>
            </a:avLst>
          </a:prstGeom>
          <a:solidFill>
            <a:srgbClr val="EEF2F5"/>
          </a:solidFill>
          <a:ln w="12700">
            <a:solidFill>
              <a:srgbClr val="EEF2F5"/>
            </a:solidFill>
            <a:prstDash val="solid"/>
          </a:ln>
        </p:spPr>
      </p:sp>
      <p:sp>
        <p:nvSpPr>
          <p:cNvPr id="20" name="Shape 18"/>
          <p:cNvSpPr/>
          <p:nvPr/>
        </p:nvSpPr>
        <p:spPr>
          <a:xfrm>
            <a:off x="7178040" y="2697480"/>
            <a:ext cx="256032" cy="256032"/>
          </a:xfrm>
          <a:prstGeom prst="ellipse">
            <a:avLst/>
          </a:prstGeom>
          <a:solidFill>
            <a:srgbClr val="EB6834"/>
          </a:solidFill>
          <a:ln w="12700">
            <a:solidFill>
              <a:srgbClr val="EB6834"/>
            </a:solidFill>
            <a:prstDash val="solid"/>
          </a:ln>
        </p:spPr>
      </p:sp>
      <p:sp>
        <p:nvSpPr>
          <p:cNvPr id="21" name="Text 19"/>
          <p:cNvSpPr txBox="1"/>
          <p:nvPr/>
        </p:nvSpPr>
        <p:spPr>
          <a:xfrm>
            <a:off x="7589520" y="2587752"/>
            <a:ext cx="38404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ResNet18</a:t>
            </a:r>
            <a:endParaRPr lang="en-US" sz="1800" dirty="0"/>
          </a:p>
        </p:txBody>
      </p:sp>
      <p:sp>
        <p:nvSpPr>
          <p:cNvPr id="22" name="Text 20"/>
          <p:cNvSpPr txBox="1"/>
          <p:nvPr/>
        </p:nvSpPr>
        <p:spPr>
          <a:xfrm>
            <a:off x="7589520" y="2999232"/>
            <a:ext cx="3886200" cy="457200"/>
          </a:xfrm>
          <a:prstGeom prst="rect">
            <a:avLst/>
          </a:prstGeom>
          <a:noFill/>
          <a:ln/>
        </p:spPr>
        <p:txBody>
          <a:bodyPr wrap="square" lIns="0" tIns="0" rIns="0" bIns="0" rtlCol="0" anchor="t"/>
          <a:lstStyle/>
          <a:p>
            <a:pPr indent="0" marL="0">
              <a:buNone/>
            </a:pPr>
            <a:r>
              <a:rPr lang="en-US" sz="1300" dirty="0">
                <a:solidFill>
                  <a:schemeClr val="tx2"/>
                </a:solidFill>
              </a:rPr>
              <a:t>CNN · conexiones residuales · 11.2M parám., se ajusta el 75% (8.4M)</a:t>
            </a:r>
            <a:endParaRPr lang="en-US" sz="1300" dirty="0"/>
          </a:p>
        </p:txBody>
      </p:sp>
      <p:sp>
        <p:nvSpPr>
          <p:cNvPr id="23" name="modelo-vit_b_16"/>
          <p:cNvSpPr/>
          <p:nvPr/>
        </p:nvSpPr>
        <p:spPr>
          <a:xfrm>
            <a:off x="6949440" y="3666744"/>
            <a:ext cx="4663440" cy="1051560"/>
          </a:xfrm>
          <a:prstGeom prst="roundRect">
            <a:avLst>
              <a:gd name="adj" fmla="val 10435"/>
            </a:avLst>
          </a:prstGeom>
          <a:solidFill>
            <a:srgbClr val="EEF2F5"/>
          </a:solidFill>
          <a:ln w="12700">
            <a:solidFill>
              <a:srgbClr val="EEF2F5"/>
            </a:solidFill>
            <a:prstDash val="solid"/>
          </a:ln>
        </p:spPr>
      </p:sp>
      <p:sp>
        <p:nvSpPr>
          <p:cNvPr id="24" name="Shape 22"/>
          <p:cNvSpPr/>
          <p:nvPr/>
        </p:nvSpPr>
        <p:spPr>
          <a:xfrm>
            <a:off x="7178040" y="3867912"/>
            <a:ext cx="256032" cy="256032"/>
          </a:xfrm>
          <a:prstGeom prst="ellipse">
            <a:avLst/>
          </a:prstGeom>
          <a:solidFill>
            <a:srgbClr val="1BAF7A"/>
          </a:solidFill>
          <a:ln w="12700">
            <a:solidFill>
              <a:srgbClr val="1BAF7A"/>
            </a:solidFill>
            <a:prstDash val="solid"/>
          </a:ln>
        </p:spPr>
      </p:sp>
      <p:sp>
        <p:nvSpPr>
          <p:cNvPr id="25" name="Text 23"/>
          <p:cNvSpPr txBox="1"/>
          <p:nvPr/>
        </p:nvSpPr>
        <p:spPr>
          <a:xfrm>
            <a:off x="7589520" y="3758184"/>
            <a:ext cx="38404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ViT-B/16</a:t>
            </a:r>
            <a:endParaRPr lang="en-US" sz="1800" dirty="0"/>
          </a:p>
        </p:txBody>
      </p:sp>
      <p:sp>
        <p:nvSpPr>
          <p:cNvPr id="26" name="Text 24"/>
          <p:cNvSpPr txBox="1"/>
          <p:nvPr/>
        </p:nvSpPr>
        <p:spPr>
          <a:xfrm>
            <a:off x="7589520" y="4169664"/>
            <a:ext cx="3886200" cy="457200"/>
          </a:xfrm>
          <a:prstGeom prst="rect">
            <a:avLst/>
          </a:prstGeom>
          <a:noFill/>
          <a:ln/>
        </p:spPr>
        <p:txBody>
          <a:bodyPr wrap="square" lIns="0" tIns="0" rIns="0" bIns="0" rtlCol="0" anchor="t"/>
          <a:lstStyle/>
          <a:p>
            <a:pPr indent="0" marL="0">
              <a:buNone/>
            </a:pPr>
            <a:r>
              <a:rPr lang="en-US" sz="1300" dirty="0">
                <a:solidFill>
                  <a:schemeClr val="tx2"/>
                </a:solidFill>
              </a:rPr>
              <a:t>Transformer · 12 bloques de auto-atención · 85.8M parám., se ajusta el 8% (7.1M)</a:t>
            </a:r>
            <a:endParaRPr lang="en-US" sz="1300" dirty="0"/>
          </a:p>
        </p:txBody>
      </p:sp>
      <p:sp>
        <p:nvSpPr>
          <p:cNvPr id="27" name="modelo-maxvit_t"/>
          <p:cNvSpPr/>
          <p:nvPr/>
        </p:nvSpPr>
        <p:spPr>
          <a:xfrm>
            <a:off x="6949440" y="4837176"/>
            <a:ext cx="4663440" cy="1051560"/>
          </a:xfrm>
          <a:prstGeom prst="roundRect">
            <a:avLst>
              <a:gd name="adj" fmla="val 10435"/>
            </a:avLst>
          </a:prstGeom>
          <a:solidFill>
            <a:srgbClr val="EEF2F5"/>
          </a:solidFill>
          <a:ln w="12700">
            <a:solidFill>
              <a:srgbClr val="EEF2F5"/>
            </a:solidFill>
            <a:prstDash val="solid"/>
          </a:ln>
        </p:spPr>
      </p:sp>
      <p:sp>
        <p:nvSpPr>
          <p:cNvPr id="28" name="Shape 26"/>
          <p:cNvSpPr/>
          <p:nvPr/>
        </p:nvSpPr>
        <p:spPr>
          <a:xfrm>
            <a:off x="7178040" y="5038344"/>
            <a:ext cx="256032" cy="256032"/>
          </a:xfrm>
          <a:prstGeom prst="ellipse">
            <a:avLst/>
          </a:prstGeom>
          <a:solidFill>
            <a:srgbClr val="EDA100"/>
          </a:solidFill>
          <a:ln w="12700">
            <a:solidFill>
              <a:srgbClr val="EDA100"/>
            </a:solidFill>
            <a:prstDash val="solid"/>
          </a:ln>
        </p:spPr>
      </p:sp>
      <p:sp>
        <p:nvSpPr>
          <p:cNvPr id="29" name="Text 27"/>
          <p:cNvSpPr txBox="1"/>
          <p:nvPr/>
        </p:nvSpPr>
        <p:spPr>
          <a:xfrm>
            <a:off x="7589520" y="4928616"/>
            <a:ext cx="38404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MaxViT-T</a:t>
            </a:r>
            <a:endParaRPr lang="en-US" sz="1800" dirty="0"/>
          </a:p>
        </p:txBody>
      </p:sp>
      <p:sp>
        <p:nvSpPr>
          <p:cNvPr id="30" name="Text 28"/>
          <p:cNvSpPr txBox="1"/>
          <p:nvPr/>
        </p:nvSpPr>
        <p:spPr>
          <a:xfrm>
            <a:off x="7589520" y="5340096"/>
            <a:ext cx="3886200" cy="457200"/>
          </a:xfrm>
          <a:prstGeom prst="rect">
            <a:avLst/>
          </a:prstGeom>
          <a:noFill/>
          <a:ln/>
        </p:spPr>
        <p:txBody>
          <a:bodyPr wrap="square" lIns="0" tIns="0" rIns="0" bIns="0" rtlCol="0" anchor="t"/>
          <a:lstStyle/>
          <a:p>
            <a:pPr indent="0" marL="0">
              <a:buNone/>
            </a:pPr>
            <a:r>
              <a:rPr lang="en-US" sz="1300" dirty="0">
                <a:solidFill>
                  <a:schemeClr val="tx2"/>
                </a:solidFill>
              </a:rPr>
              <a:t>Híbrido · convoluciones + atención local y global · 30.4M parám., se ajusta el 30% (9.2M)</a:t>
            </a:r>
            <a:endParaRPr lang="en-US" sz="1300" dirty="0"/>
          </a:p>
        </p:txBody>
      </p:sp>
      <p:sp>
        <p:nvSpPr>
          <p:cNvPr id="31" name="Text 29"/>
          <p:cNvSpPr txBox="1"/>
          <p:nvPr/>
        </p:nvSpPr>
        <p:spPr>
          <a:xfrm>
            <a:off x="6949440" y="6035040"/>
            <a:ext cx="4663440" cy="320040"/>
          </a:xfrm>
          <a:prstGeom prst="rect">
            <a:avLst/>
          </a:prstGeom>
          <a:noFill/>
          <a:ln/>
        </p:spPr>
        <p:txBody>
          <a:bodyPr wrap="square" lIns="0" tIns="0" rIns="0" bIns="0" rtlCol="0" anchor="ctr"/>
          <a:lstStyle/>
          <a:p>
            <a:pPr indent="0" marL="0">
              <a:buNone/>
            </a:pPr>
            <a:r>
              <a:rPr lang="en-US" sz="1300" i="1" dirty="0">
                <a:solidFill>
                  <a:schemeClr val="accent5"/>
                </a:solidFill>
              </a:rPr>
              <a:t>+ Ensemble: promedio de las probabilidades de los cuatro, sin entrenamiento adicional</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Ninguna arquitectura domina; el ensemble mejora a todas</a:t>
            </a:r>
            <a:endParaRPr lang="en-US" sz="2800" dirty="0"/>
          </a:p>
        </p:txBody>
      </p:sp>
      <p:graphicFrame>
        <p:nvGraphicFramePr>
          <p:cNvPr id="5" name="tabla-resultados"/>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3017520"/>
                <a:gridCol w="1417320"/>
                <a:gridCol w="1417320"/>
                <a:gridCol w="1417320"/>
                <a:gridCol w="1600200"/>
              </a:tblGrid>
              <a:tr h="438912">
                <a:tc>
                  <a:txBody>
                    <a:bodyPr/>
                    <a:lstStyle/>
                    <a:p>
                      <a:pPr algn="ctr" indent="0" marL="0">
                        <a:buNone/>
                      </a:pPr>
                      <a:r>
                        <a:rPr lang="en-US" sz="1500" b="1" dirty="0">
                          <a:solidFill>
                            <a:srgbClr val="FFFFFF"/>
                          </a:solidFill>
                        </a:rPr>
                        <a:t>Modelo</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AUROC macro [IC 95%]</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F1 macro</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F1 micro</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Exactitud</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Mejor época</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r>
              <a:tr h="438912">
                <a:tc>
                  <a:txBody>
                    <a:bodyPr/>
                    <a:lstStyle/>
                    <a:p>
                      <a:pPr indent="0" marL="0">
                        <a:buNone/>
                      </a:pPr>
                      <a:r>
                        <a:rPr lang="en-US" sz="1500" dirty="0">
                          <a:solidFill>
                            <a:srgbClr val="2A78D6"/>
                          </a:solidFill>
                        </a:rPr>
                        <a:t>●  </a:t>
                      </a:r>
                      <a:pPr indent="0" marL="0">
                        <a:buNone/>
                      </a:pPr>
                      <a:r>
                        <a:rPr lang="en-US" sz="1500" b="1" dirty="0">
                          <a:solidFill>
                            <a:srgbClr val="1B2430"/>
                          </a:solidFill>
                        </a:rPr>
                        <a:t>DenseNet121</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0.745  [0.721, 0.768]</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0.188</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0.253</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3</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EB6834"/>
                          </a:solidFill>
                        </a:rPr>
                        <a:t>●  </a:t>
                      </a:r>
                      <a:pPr indent="0" marL="0">
                        <a:buNone/>
                      </a:pPr>
                      <a:r>
                        <a:rPr lang="en-US" sz="1500" b="1" dirty="0">
                          <a:solidFill>
                            <a:srgbClr val="1B2430"/>
                          </a:solidFill>
                        </a:rPr>
                        <a:t>ResNet18</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0.749  [0.725, 0.771]</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0.197</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0.266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1BAF7A"/>
                          </a:solidFill>
                        </a:rPr>
                        <a:t>●  </a:t>
                      </a:r>
                      <a:pPr indent="0" marL="0">
                        <a:buNone/>
                      </a:pPr>
                      <a:r>
                        <a:rPr lang="en-US" sz="1500" b="1" dirty="0">
                          <a:solidFill>
                            <a:srgbClr val="1B2430"/>
                          </a:solidFill>
                        </a:rPr>
                        <a:t>ViT-B/16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0.742  [0.717, 0.766]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0.194</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0.274</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3</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EDA100"/>
                          </a:solidFill>
                        </a:rPr>
                        <a:t>●  </a:t>
                      </a:r>
                      <a:pPr indent="0" marL="0">
                        <a:buNone/>
                      </a:pPr>
                      <a:r>
                        <a:rPr lang="en-US" sz="1500" b="1" dirty="0">
                          <a:solidFill>
                            <a:srgbClr val="1B2430"/>
                          </a:solidFill>
                        </a:rPr>
                        <a:t>MaxViT-T</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0.733  [0.705, 0.759]</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0.172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0.252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5</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6250D6"/>
                          </a:solidFill>
                        </a:rPr>
                        <a:t>●  </a:t>
                      </a:r>
                      <a:pPr indent="0" marL="0">
                        <a:buNone/>
                      </a:pPr>
                      <a:r>
                        <a:rPr lang="en-US" sz="1500" b="1" dirty="0">
                          <a:solidFill>
                            <a:srgbClr val="1B2430"/>
                          </a:solidFill>
                        </a:rPr>
                        <a:t>Ensemble</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b="1" dirty="0">
                          <a:solidFill>
                            <a:srgbClr val="1B2430"/>
                          </a:solidFill>
                        </a:rPr>
                        <a:t>0.767  [0.740, 0.791]</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b="1" dirty="0">
                          <a:solidFill>
                            <a:srgbClr val="1B2430"/>
                          </a:solidFill>
                        </a:rPr>
                        <a:t>0.204</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b="1" dirty="0">
                          <a:solidFill>
                            <a:srgbClr val="1B2430"/>
                          </a:solidFill>
                        </a:rPr>
                        <a:t>0.310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dirty="0">
                          <a:solidFill>
                            <a:srgbClr val="1B2430"/>
                          </a:solidFill>
                        </a:rPr>
                        <a:t>–</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r>
            </a:tbl>
          </a:graphicData>
        </a:graphic>
      </p:graphicFrame>
      <p:sp>
        <p:nvSpPr>
          <p:cNvPr id="4" name="hallazgo-0"/>
          <p:cNvSpPr/>
          <p:nvPr/>
        </p:nvSpPr>
        <p:spPr>
          <a:xfrm>
            <a:off x="548640" y="4206240"/>
            <a:ext cx="3520440" cy="1417320"/>
          </a:xfrm>
          <a:prstGeom prst="roundRect">
            <a:avLst>
              <a:gd name="adj" fmla="val 7742"/>
            </a:avLst>
          </a:prstGeom>
          <a:solidFill>
            <a:srgbClr val="EEF2F5"/>
          </a:solidFill>
          <a:ln w="12700">
            <a:solidFill>
              <a:srgbClr val="EEF2F5"/>
            </a:solidFill>
            <a:prstDash val="solid"/>
          </a:ln>
        </p:spPr>
      </p:sp>
      <p:sp>
        <p:nvSpPr>
          <p:cNvPr id="5" name="Text 2"/>
          <p:cNvSpPr txBox="1"/>
          <p:nvPr/>
        </p:nvSpPr>
        <p:spPr>
          <a:xfrm>
            <a:off x="77724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Entre modelos individuales</a:t>
            </a:r>
            <a:endParaRPr lang="en-US" sz="1600" dirty="0"/>
          </a:p>
          <a:p>
            <a:pPr indent="0" marL="0">
              <a:spcAft>
                <a:spcPts val="600"/>
              </a:spcAft>
              <a:buNone/>
            </a:pPr>
            <a:r>
              <a:rPr lang="en-US" sz="1400" dirty="0">
                <a:solidFill>
                  <a:schemeClr val="tx2"/>
                </a:solidFill>
              </a:rPr>
              <a:t>Ninguna diferencia de AUROC es significativa</a:t>
            </a:r>
            <a:endParaRPr lang="en-US" sz="1600" dirty="0"/>
          </a:p>
        </p:txBody>
      </p:sp>
      <p:sp>
        <p:nvSpPr>
          <p:cNvPr id="6" name="hallazgo-1"/>
          <p:cNvSpPr/>
          <p:nvPr/>
        </p:nvSpPr>
        <p:spPr>
          <a:xfrm>
            <a:off x="4297680" y="4206240"/>
            <a:ext cx="3520440" cy="1417320"/>
          </a:xfrm>
          <a:prstGeom prst="roundRect">
            <a:avLst>
              <a:gd name="adj" fmla="val 7742"/>
            </a:avLst>
          </a:prstGeom>
          <a:solidFill>
            <a:srgbClr val="EEF2F5"/>
          </a:solidFill>
          <a:ln w="12700">
            <a:solidFill>
              <a:srgbClr val="EEF2F5"/>
            </a:solidFill>
            <a:prstDash val="solid"/>
          </a:ln>
        </p:spPr>
      </p:sp>
      <p:sp>
        <p:nvSpPr>
          <p:cNvPr id="7" name="Text 4"/>
          <p:cNvSpPr txBox="1"/>
          <p:nvPr/>
        </p:nvSpPr>
        <p:spPr>
          <a:xfrm>
            <a:off x="452628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Ensemble vs. cada modelo</a:t>
            </a:r>
            <a:endParaRPr lang="en-US" sz="1600" dirty="0"/>
          </a:p>
          <a:p>
            <a:pPr indent="0" marL="0">
              <a:spcAft>
                <a:spcPts val="600"/>
              </a:spcAft>
              <a:buNone/>
            </a:pPr>
            <a:r>
              <a:rPr lang="en-US" sz="1400" dirty="0">
                <a:solidFill>
                  <a:schemeClr val="tx2"/>
                </a:solidFill>
              </a:rPr>
              <a:t>+0.018 a +0.034 de AUROC, todas significativas</a:t>
            </a:r>
            <a:endParaRPr lang="en-US" sz="1600" dirty="0"/>
          </a:p>
        </p:txBody>
      </p:sp>
      <p:sp>
        <p:nvSpPr>
          <p:cNvPr id="8" name="hallazgo-2"/>
          <p:cNvSpPr/>
          <p:nvPr/>
        </p:nvSpPr>
        <p:spPr>
          <a:xfrm>
            <a:off x="8046720" y="4206240"/>
            <a:ext cx="3520440" cy="1417320"/>
          </a:xfrm>
          <a:prstGeom prst="roundRect">
            <a:avLst>
              <a:gd name="adj" fmla="val 7742"/>
            </a:avLst>
          </a:prstGeom>
          <a:solidFill>
            <a:srgbClr val="EEF2F5"/>
          </a:solidFill>
          <a:ln w="12700">
            <a:solidFill>
              <a:srgbClr val="EEF2F5"/>
            </a:solidFill>
            <a:prstDash val="solid"/>
          </a:ln>
        </p:spPr>
      </p:sp>
      <p:sp>
        <p:nvSpPr>
          <p:cNvPr id="9" name="Text 6"/>
          <p:cNvSpPr txBox="1"/>
          <p:nvPr/>
        </p:nvSpPr>
        <p:spPr>
          <a:xfrm>
            <a:off x="827532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La exactitud no distingue</a:t>
            </a:r>
            <a:endParaRPr lang="en-US" sz="1600" dirty="0"/>
          </a:p>
          <a:p>
            <a:pPr indent="0" marL="0">
              <a:spcAft>
                <a:spcPts val="600"/>
              </a:spcAft>
              <a:buNone/>
            </a:pPr>
            <a:r>
              <a:rPr lang="en-US" sz="1400" dirty="0">
                <a:solidFill>
                  <a:schemeClr val="tx2"/>
                </a:solidFill>
              </a:rPr>
              <a:t>Todos ≈ 0.950, igual que predecir siempre "sin hallazgo"</a:t>
            </a:r>
            <a:endParaRPr lang="en-US" sz="1600" dirty="0"/>
          </a:p>
        </p:txBody>
      </p:sp>
      <p:sp>
        <p:nvSpPr>
          <p:cNvPr id="10" name="Text 7"/>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300" i="1" dirty="0">
                <a:solidFill>
                  <a:schemeClr val="accent5"/>
                </a:solidFill>
              </a:rPr>
              <a:t>Una repetición independiente del experimento cambió el orden de los modelos individuales (hasta 0.010 de AUROC).</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El ensemble mejora a todos; el híbrido no convergió</a:t>
            </a:r>
            <a:endParaRPr lang="en-US" sz="2800" dirty="0"/>
          </a:p>
        </p:txBody>
      </p:sp>
      <p:sp>
        <p:nvSpPr>
          <p:cNvPr id="3" name="stat-ensemble"/>
          <p:cNvSpPr/>
          <p:nvPr/>
        </p:nvSpPr>
        <p:spPr>
          <a:xfrm>
            <a:off x="548640" y="1371600"/>
            <a:ext cx="4937760" cy="2194560"/>
          </a:xfrm>
          <a:prstGeom prst="roundRect">
            <a:avLst>
              <a:gd name="adj" fmla="val 5000"/>
            </a:avLst>
          </a:prstGeom>
          <a:solidFill>
            <a:srgbClr val="EEF2F5"/>
          </a:solidFill>
          <a:ln w="12700">
            <a:solidFill>
              <a:srgbClr val="EEF2F5"/>
            </a:solidFill>
            <a:prstDash val="solid"/>
          </a:ln>
        </p:spPr>
      </p:sp>
      <p:sp>
        <p:nvSpPr>
          <p:cNvPr id="4" name="Shape 2"/>
          <p:cNvSpPr/>
          <p:nvPr/>
        </p:nvSpPr>
        <p:spPr>
          <a:xfrm>
            <a:off x="777240" y="1600200"/>
            <a:ext cx="256032" cy="256032"/>
          </a:xfrm>
          <a:prstGeom prst="ellipse">
            <a:avLst/>
          </a:prstGeom>
          <a:solidFill>
            <a:srgbClr val="6250D6"/>
          </a:solidFill>
          <a:ln w="12700">
            <a:solidFill>
              <a:srgbClr val="6250D6"/>
            </a:solidFill>
            <a:prstDash val="solid"/>
          </a:ln>
        </p:spPr>
      </p:sp>
      <p:sp>
        <p:nvSpPr>
          <p:cNvPr id="5" name="Text 3"/>
          <p:cNvSpPr txBox="1"/>
          <p:nvPr/>
        </p:nvSpPr>
        <p:spPr>
          <a:xfrm>
            <a:off x="1143000" y="1536192"/>
            <a:ext cx="4206240" cy="384048"/>
          </a:xfrm>
          <a:prstGeom prst="rect">
            <a:avLst/>
          </a:prstGeom>
          <a:noFill/>
          <a:ln/>
        </p:spPr>
        <p:txBody>
          <a:bodyPr wrap="square" lIns="0" tIns="0" rIns="0" bIns="0" rtlCol="0" anchor="ctr"/>
          <a:lstStyle/>
          <a:p>
            <a:pPr indent="0" marL="0">
              <a:buNone/>
            </a:pPr>
            <a:r>
              <a:rPr lang="en-US" sz="1800" b="1" dirty="0">
                <a:solidFill>
                  <a:schemeClr val="tx1"/>
                </a:solidFill>
              </a:rPr>
              <a:t>Ensemble de los 4 modelos</a:t>
            </a:r>
            <a:endParaRPr lang="en-US" sz="1800" dirty="0"/>
          </a:p>
        </p:txBody>
      </p:sp>
      <p:sp>
        <p:nvSpPr>
          <p:cNvPr id="6" name="Text 4"/>
          <p:cNvSpPr txBox="1"/>
          <p:nvPr/>
        </p:nvSpPr>
        <p:spPr>
          <a:xfrm>
            <a:off x="777240" y="1965960"/>
            <a:ext cx="2377440" cy="868680"/>
          </a:xfrm>
          <a:prstGeom prst="rect">
            <a:avLst/>
          </a:prstGeom>
          <a:noFill/>
          <a:ln/>
        </p:spPr>
        <p:txBody>
          <a:bodyPr wrap="square" lIns="0" tIns="0" rIns="0" bIns="0" rtlCol="0" anchor="ctr"/>
          <a:lstStyle/>
          <a:p>
            <a:pPr indent="0" marL="0">
              <a:buNone/>
            </a:pPr>
            <a:r>
              <a:rPr lang="en-US" sz="4800" b="1" dirty="0">
                <a:solidFill>
                  <a:srgbClr val="6250D6"/>
                </a:solidFill>
                <a:latin typeface="Cambria" pitchFamily="34" charset="0"/>
                <a:ea typeface="Cambria" pitchFamily="34" charset="-122"/>
                <a:cs typeface="Cambria" pitchFamily="34" charset="-120"/>
              </a:rPr>
              <a:t>0.767</a:t>
            </a:r>
            <a:endParaRPr lang="en-US" sz="4800" dirty="0"/>
          </a:p>
        </p:txBody>
      </p:sp>
      <p:sp>
        <p:nvSpPr>
          <p:cNvPr id="7" name="Text 5"/>
          <p:cNvSpPr txBox="1"/>
          <p:nvPr/>
        </p:nvSpPr>
        <p:spPr>
          <a:xfrm>
            <a:off x="3108960" y="2057400"/>
            <a:ext cx="2286000" cy="822960"/>
          </a:xfrm>
          <a:prstGeom prst="rect">
            <a:avLst/>
          </a:prstGeom>
          <a:noFill/>
          <a:ln/>
        </p:spPr>
        <p:txBody>
          <a:bodyPr wrap="square" lIns="0" tIns="0" rIns="0" bIns="0" rtlCol="0" anchor="ctr"/>
          <a:lstStyle/>
          <a:p>
            <a:pPr indent="0" marL="0">
              <a:buNone/>
            </a:pPr>
            <a:r>
              <a:rPr lang="en-US" sz="1400" dirty="0">
                <a:solidFill>
                  <a:schemeClr val="tx2"/>
                </a:solidFill>
              </a:rPr>
              <a:t>AUROC macro</a:t>
            </a:r>
            <a:endParaRPr lang="en-US" sz="1400" dirty="0"/>
          </a:p>
          <a:p>
            <a:pPr indent="0" marL="0">
              <a:buNone/>
            </a:pPr>
            <a:r>
              <a:rPr lang="en-US" sz="1400" dirty="0">
                <a:solidFill>
                  <a:schemeClr val="tx2"/>
                </a:solidFill>
              </a:rPr>
              <a:t>+0.018 a +0.034 sobre cada modelo</a:t>
            </a:r>
            <a:endParaRPr lang="en-US" sz="1400" dirty="0"/>
          </a:p>
        </p:txBody>
      </p:sp>
      <p:sp>
        <p:nvSpPr>
          <p:cNvPr id="8" name="Text 6"/>
          <p:cNvSpPr txBox="1"/>
          <p:nvPr/>
        </p:nvSpPr>
        <p:spPr>
          <a:xfrm>
            <a:off x="777240" y="2880360"/>
            <a:ext cx="4572000" cy="594360"/>
          </a:xfrm>
          <a:prstGeom prst="rect">
            <a:avLst/>
          </a:prstGeom>
          <a:noFill/>
          <a:ln/>
        </p:spPr>
        <p:txBody>
          <a:bodyPr wrap="square" lIns="0" tIns="0" rIns="0" bIns="0" rtlCol="0" anchor="ctr"/>
          <a:lstStyle/>
          <a:p>
            <a:pPr indent="0" marL="0">
              <a:buNone/>
            </a:pPr>
            <a:r>
              <a:rPr lang="en-US" sz="1300" dirty="0">
                <a:solidFill>
                  <a:schemeClr val="tx2"/>
                </a:solidFill>
              </a:rPr>
              <a:t>Errores distintos entre CNN, Transformer e híbrido se compensan. Costo: correr los 4 (≈153 img/s, 134M parám.)</a:t>
            </a:r>
            <a:endParaRPr lang="en-US" sz="1300" dirty="0"/>
          </a:p>
        </p:txBody>
      </p:sp>
      <p:sp>
        <p:nvSpPr>
          <p:cNvPr id="9" name="stat-maxvit"/>
          <p:cNvSpPr/>
          <p:nvPr/>
        </p:nvSpPr>
        <p:spPr>
          <a:xfrm>
            <a:off x="548640" y="3794760"/>
            <a:ext cx="4937760" cy="2377440"/>
          </a:xfrm>
          <a:prstGeom prst="roundRect">
            <a:avLst>
              <a:gd name="adj" fmla="val 4615"/>
            </a:avLst>
          </a:prstGeom>
          <a:solidFill>
            <a:srgbClr val="EEF2F5"/>
          </a:solidFill>
          <a:ln w="12700">
            <a:solidFill>
              <a:srgbClr val="EEF2F5"/>
            </a:solidFill>
            <a:prstDash val="solid"/>
          </a:ln>
        </p:spPr>
      </p:sp>
      <p:sp>
        <p:nvSpPr>
          <p:cNvPr id="10" name="Shape 8"/>
          <p:cNvSpPr/>
          <p:nvPr/>
        </p:nvSpPr>
        <p:spPr>
          <a:xfrm>
            <a:off x="777240" y="4023360"/>
            <a:ext cx="256032" cy="256032"/>
          </a:xfrm>
          <a:prstGeom prst="ellipse">
            <a:avLst/>
          </a:prstGeom>
          <a:solidFill>
            <a:srgbClr val="EDA100"/>
          </a:solidFill>
          <a:ln w="12700">
            <a:solidFill>
              <a:srgbClr val="EDA100"/>
            </a:solidFill>
            <a:prstDash val="solid"/>
          </a:ln>
        </p:spPr>
      </p:sp>
      <p:sp>
        <p:nvSpPr>
          <p:cNvPr id="11" name="Text 9"/>
          <p:cNvSpPr txBox="1"/>
          <p:nvPr/>
        </p:nvSpPr>
        <p:spPr>
          <a:xfrm>
            <a:off x="1143000" y="3959352"/>
            <a:ext cx="4206240" cy="384048"/>
          </a:xfrm>
          <a:prstGeom prst="rect">
            <a:avLst/>
          </a:prstGeom>
          <a:noFill/>
          <a:ln/>
        </p:spPr>
        <p:txBody>
          <a:bodyPr wrap="square" lIns="0" tIns="0" rIns="0" bIns="0" rtlCol="0" anchor="ctr"/>
          <a:lstStyle/>
          <a:p>
            <a:pPr indent="0" marL="0">
              <a:buNone/>
            </a:pPr>
            <a:r>
              <a:rPr lang="en-US" sz="1800" b="1" dirty="0">
                <a:solidFill>
                  <a:schemeClr val="tx1"/>
                </a:solidFill>
              </a:rPr>
              <a:t>MaxViT-T (híbrido)</a:t>
            </a:r>
            <a:endParaRPr lang="en-US" sz="1800" dirty="0"/>
          </a:p>
        </p:txBody>
      </p:sp>
      <p:sp>
        <p:nvSpPr>
          <p:cNvPr id="12" name="Text 10"/>
          <p:cNvSpPr txBox="1"/>
          <p:nvPr/>
        </p:nvSpPr>
        <p:spPr>
          <a:xfrm>
            <a:off x="777240" y="4389120"/>
            <a:ext cx="2377440" cy="868680"/>
          </a:xfrm>
          <a:prstGeom prst="rect">
            <a:avLst/>
          </a:prstGeom>
          <a:noFill/>
          <a:ln/>
        </p:spPr>
        <p:txBody>
          <a:bodyPr wrap="square" lIns="0" tIns="0" rIns="0" bIns="0" rtlCol="0" anchor="ctr"/>
          <a:lstStyle/>
          <a:p>
            <a:pPr indent="0" marL="0">
              <a:buNone/>
            </a:pPr>
            <a:r>
              <a:rPr lang="en-US" sz="4800" b="1" dirty="0">
                <a:solidFill>
                  <a:schemeClr val="accent4"/>
                </a:solidFill>
                <a:latin typeface="Cambria" pitchFamily="34" charset="0"/>
                <a:ea typeface="Cambria" pitchFamily="34" charset="-122"/>
                <a:cs typeface="Cambria" pitchFamily="34" charset="-120"/>
              </a:rPr>
              <a:t>0.733</a:t>
            </a:r>
            <a:endParaRPr lang="en-US" sz="4800" dirty="0"/>
          </a:p>
        </p:txBody>
      </p:sp>
      <p:sp>
        <p:nvSpPr>
          <p:cNvPr id="13" name="Text 11"/>
          <p:cNvSpPr txBox="1"/>
          <p:nvPr/>
        </p:nvSpPr>
        <p:spPr>
          <a:xfrm>
            <a:off x="3108960" y="4480560"/>
            <a:ext cx="2286000" cy="822960"/>
          </a:xfrm>
          <a:prstGeom prst="rect">
            <a:avLst/>
          </a:prstGeom>
          <a:noFill/>
          <a:ln/>
        </p:spPr>
        <p:txBody>
          <a:bodyPr wrap="square" lIns="0" tIns="0" rIns="0" bIns="0" rtlCol="0" anchor="ctr"/>
          <a:lstStyle/>
          <a:p>
            <a:pPr indent="0" marL="0">
              <a:buNone/>
            </a:pPr>
            <a:r>
              <a:rPr lang="en-US" sz="1400" dirty="0">
                <a:solidFill>
                  <a:schemeClr val="tx2"/>
                </a:solidFill>
              </a:rPr>
              <a:t>AUROC macro</a:t>
            </a:r>
            <a:endParaRPr lang="en-US" sz="1400" dirty="0"/>
          </a:p>
          <a:p>
            <a:pPr indent="0" marL="0">
              <a:buNone/>
            </a:pPr>
            <a:r>
              <a:rPr lang="en-US" sz="1400" dirty="0">
                <a:solidFill>
                  <a:schemeClr val="tx2"/>
                </a:solidFill>
              </a:rPr>
              <a:t>mejor época: 5 de 5</a:t>
            </a:r>
            <a:endParaRPr lang="en-US" sz="1400" dirty="0"/>
          </a:p>
        </p:txBody>
      </p:sp>
      <p:sp>
        <p:nvSpPr>
          <p:cNvPr id="14" name="Text 12"/>
          <p:cNvSpPr txBox="1"/>
          <p:nvPr/>
        </p:nvSpPr>
        <p:spPr>
          <a:xfrm>
            <a:off x="777240" y="5303520"/>
            <a:ext cx="4572000" cy="777240"/>
          </a:xfrm>
          <a:prstGeom prst="rect">
            <a:avLst/>
          </a:prstGeom>
          <a:noFill/>
          <a:ln/>
        </p:spPr>
        <p:txBody>
          <a:bodyPr wrap="square" lIns="0" tIns="0" rIns="0" bIns="0" rtlCol="0" anchor="ctr"/>
          <a:lstStyle/>
          <a:p>
            <a:pPr indent="0" marL="0">
              <a:buNone/>
            </a:pPr>
            <a:r>
              <a:rPr lang="en-US" sz="1300" dirty="0">
                <a:solidFill>
                  <a:schemeClr val="tx2"/>
                </a:solidFill>
              </a:rPr>
              <a:t>Su pérdida de validación seguía bajando: con 5 épocas y solo la última capa entrenable, no llegó a converger.</a:t>
            </a:r>
            <a:endParaRPr lang="en-US" sz="1300" dirty="0"/>
          </a:p>
        </p:txBody>
      </p:sp>
      <p:pic>
        <p:nvPicPr>
          <p:cNvPr id="15" name="curvas-convergencia" descr="curvas-convergencia">    </p:cNvPr>
          <p:cNvPicPr>
            <a:picLocks noChangeAspect="1"/>
          </p:cNvPicPr>
          <p:nvPr/>
        </p:nvPicPr>
        <p:blipFill>
          <a:blip r:embed="rId1"/>
          <a:stretch>
            <a:fillRect/>
          </a:stretch>
        </p:blipFill>
        <p:spPr>
          <a:xfrm>
            <a:off x="5760720" y="1681843"/>
            <a:ext cx="5852160" cy="4180114"/>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Con 112k imágenes todos mejoran ~0.05</a:t>
            </a:r>
            <a:endParaRPr lang="en-US" sz="2800" dirty="0"/>
          </a:p>
        </p:txBody>
      </p:sp>
      <p:graphicFrame>
        <p:nvGraphicFramePr>
          <p:cNvPr id="7" name="tabla-112k"/>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286000"/>
                <a:gridCol w="1737360"/>
                <a:gridCol w="3291840"/>
                <a:gridCol w="1737360"/>
                <a:gridCol w="2011680"/>
              </a:tblGrid>
              <a:tr h="438912">
                <a:tc>
                  <a:txBody>
                    <a:bodyPr/>
                    <a:lstStyle/>
                    <a:p>
                      <a:pPr algn="ctr" indent="0" marL="0">
                        <a:buNone/>
                      </a:pPr>
                      <a:r>
                        <a:rPr lang="en-US" sz="1500" b="1" dirty="0">
                          <a:solidFill>
                            <a:srgbClr val="FFFFFF"/>
                          </a:solidFill>
                        </a:rPr>
                        <a:t>Modelo</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AUROC 12k</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AUROC 112k [IC 95%]</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Cambio</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Mejor época</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r>
              <a:tr h="438912">
                <a:tc>
                  <a:txBody>
                    <a:bodyPr/>
                    <a:lstStyle/>
                    <a:p>
                      <a:pPr indent="0" marL="0">
                        <a:buNone/>
                      </a:pPr>
                      <a:r>
                        <a:rPr lang="en-US" sz="1500" dirty="0">
                          <a:solidFill>
                            <a:srgbClr val="2A78D6"/>
                          </a:solidFill>
                        </a:rPr>
                        <a:t>●  </a:t>
                      </a:r>
                      <a:pPr indent="0" marL="0">
                        <a:buNone/>
                      </a:pPr>
                      <a:r>
                        <a:rPr lang="en-US" sz="1500" b="1" dirty="0">
                          <a:solidFill>
                            <a:srgbClr val="1B2430"/>
                          </a:solidFill>
                        </a:rPr>
                        <a:t>DenseNet121</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0.745</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0.792  [0.785, 0.799]</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+0.046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3 → 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EB6834"/>
                          </a:solidFill>
                        </a:rPr>
                        <a:t>●  </a:t>
                      </a:r>
                      <a:pPr indent="0" marL="0">
                        <a:buNone/>
                      </a:pPr>
                      <a:r>
                        <a:rPr lang="en-US" sz="1500" b="1" dirty="0">
                          <a:solidFill>
                            <a:srgbClr val="1B2430"/>
                          </a:solidFill>
                        </a:rPr>
                        <a:t>ResNet18</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0.749</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B2430"/>
                          </a:solidFill>
                        </a:rPr>
                        <a:t>0.799  [0.792, 0.806]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+0.050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2 → 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1BAF7A"/>
                          </a:solidFill>
                        </a:rPr>
                        <a:t>●  </a:t>
                      </a:r>
                      <a:pPr indent="0" marL="0">
                        <a:buNone/>
                      </a:pPr>
                      <a:r>
                        <a:rPr lang="en-US" sz="1500" b="1" dirty="0">
                          <a:solidFill>
                            <a:srgbClr val="1B2430"/>
                          </a:solidFill>
                        </a:rPr>
                        <a:t>ViT-B/16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0.793  [0.787, 0.799]</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+0.051</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3 → 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EDA100"/>
                          </a:solidFill>
                        </a:rPr>
                        <a:t>●  </a:t>
                      </a:r>
                      <a:pPr indent="0" marL="0">
                        <a:buNone/>
                      </a:pPr>
                      <a:r>
                        <a:rPr lang="en-US" sz="1500" b="1" dirty="0">
                          <a:solidFill>
                            <a:srgbClr val="1B2430"/>
                          </a:solidFill>
                        </a:rPr>
                        <a:t>MaxViT-T</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0.733</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0.790  [0.783, 0.797]</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B2430"/>
                          </a:solidFill>
                        </a:rPr>
                        <a:t>+0.057</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5 → 4</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6250D6"/>
                          </a:solidFill>
                        </a:rPr>
                        <a:t>●  </a:t>
                      </a:r>
                      <a:pPr indent="0" marL="0">
                        <a:buNone/>
                      </a:pPr>
                      <a:r>
                        <a:rPr lang="en-US" sz="1500" b="1" dirty="0">
                          <a:solidFill>
                            <a:srgbClr val="1B2430"/>
                          </a:solidFill>
                        </a:rPr>
                        <a:t>Ensemble</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dirty="0">
                          <a:solidFill>
                            <a:srgbClr val="1B2430"/>
                          </a:solidFill>
                        </a:rPr>
                        <a:t>0.767</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b="1" dirty="0">
                          <a:solidFill>
                            <a:srgbClr val="1B2430"/>
                          </a:solidFill>
                        </a:rPr>
                        <a:t>0.813  [0.807, 0.820]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dirty="0">
                          <a:solidFill>
                            <a:srgbClr val="1B2430"/>
                          </a:solidFill>
                        </a:rPr>
                        <a:t>+0.046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dirty="0">
                          <a:solidFill>
                            <a:srgbClr val="1B2430"/>
                          </a:solidFill>
                        </a:rPr>
                        <a:t>–</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r>
            </a:tbl>
          </a:graphicData>
        </a:graphic>
      </p:graphicFrame>
      <p:sp>
        <p:nvSpPr>
          <p:cNvPr id="4" name="hallazgo112k-0"/>
          <p:cNvSpPr/>
          <p:nvPr/>
        </p:nvSpPr>
        <p:spPr>
          <a:xfrm>
            <a:off x="548640" y="4206240"/>
            <a:ext cx="3520440" cy="1417320"/>
          </a:xfrm>
          <a:prstGeom prst="roundRect">
            <a:avLst>
              <a:gd name="adj" fmla="val 7742"/>
            </a:avLst>
          </a:prstGeom>
          <a:solidFill>
            <a:srgbClr val="EEF2F5"/>
          </a:solidFill>
          <a:ln w="12700">
            <a:solidFill>
              <a:srgbClr val="EEF2F5"/>
            </a:solidFill>
            <a:prstDash val="solid"/>
          </a:ln>
        </p:spPr>
      </p:sp>
      <p:sp>
        <p:nvSpPr>
          <p:cNvPr id="5" name="Text 2"/>
          <p:cNvSpPr txBox="1"/>
          <p:nvPr/>
        </p:nvSpPr>
        <p:spPr>
          <a:xfrm>
            <a:off x="77724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El híbrido es el que más gana</a:t>
            </a:r>
            <a:endParaRPr lang="en-US" sz="1600" dirty="0"/>
          </a:p>
          <a:p>
            <a:pPr indent="0" marL="0">
              <a:spcAft>
                <a:spcPts val="600"/>
              </a:spcAft>
              <a:buNone/>
            </a:pPr>
            <a:r>
              <a:rPr lang="en-US" sz="1400" dirty="0">
                <a:solidFill>
                  <a:schemeClr val="tx2"/>
                </a:solidFill>
              </a:rPr>
              <a:t>MaxViT-T +0.057 y ahora converge (mejor época 4): le faltaban datos</a:t>
            </a:r>
            <a:endParaRPr lang="en-US" sz="1600" dirty="0"/>
          </a:p>
        </p:txBody>
      </p:sp>
      <p:sp>
        <p:nvSpPr>
          <p:cNvPr id="6" name="hallazgo112k-1"/>
          <p:cNvSpPr/>
          <p:nvPr/>
        </p:nvSpPr>
        <p:spPr>
          <a:xfrm>
            <a:off x="4297680" y="4206240"/>
            <a:ext cx="3520440" cy="1417320"/>
          </a:xfrm>
          <a:prstGeom prst="roundRect">
            <a:avLst>
              <a:gd name="adj" fmla="val 7742"/>
            </a:avLst>
          </a:prstGeom>
          <a:solidFill>
            <a:srgbClr val="EEF2F5"/>
          </a:solidFill>
          <a:ln w="12700">
            <a:solidFill>
              <a:srgbClr val="EEF2F5"/>
            </a:solidFill>
            <a:prstDash val="solid"/>
          </a:ln>
        </p:spPr>
      </p:sp>
      <p:sp>
        <p:nvSpPr>
          <p:cNvPr id="7" name="Text 4"/>
          <p:cNvSpPr txBox="1"/>
          <p:nvPr/>
        </p:nvSpPr>
        <p:spPr>
          <a:xfrm>
            <a:off x="452628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El ensemble sigue arriba</a:t>
            </a:r>
            <a:endParaRPr lang="en-US" sz="1600" dirty="0"/>
          </a:p>
          <a:p>
            <a:pPr indent="0" marL="0">
              <a:spcAft>
                <a:spcPts val="600"/>
              </a:spcAft>
              <a:buNone/>
            </a:pPr>
            <a:r>
              <a:rPr lang="en-US" sz="1400" dirty="0">
                <a:solidFill>
                  <a:schemeClr val="tx2"/>
                </a:solidFill>
              </a:rPr>
              <a:t>AUROC 0.813, significativamente mejor que cada modelo</a:t>
            </a:r>
            <a:endParaRPr lang="en-US" sz="1600" dirty="0"/>
          </a:p>
        </p:txBody>
      </p:sp>
      <p:sp>
        <p:nvSpPr>
          <p:cNvPr id="8" name="hallazgo112k-2"/>
          <p:cNvSpPr/>
          <p:nvPr/>
        </p:nvSpPr>
        <p:spPr>
          <a:xfrm>
            <a:off x="8046720" y="4206240"/>
            <a:ext cx="3520440" cy="1417320"/>
          </a:xfrm>
          <a:prstGeom prst="roundRect">
            <a:avLst>
              <a:gd name="adj" fmla="val 7742"/>
            </a:avLst>
          </a:prstGeom>
          <a:solidFill>
            <a:srgbClr val="EEF2F5"/>
          </a:solidFill>
          <a:ln w="12700">
            <a:solidFill>
              <a:srgbClr val="EEF2F5"/>
            </a:solidFill>
            <a:prstDash val="solid"/>
          </a:ln>
        </p:spPr>
      </p:sp>
      <p:sp>
        <p:nvSpPr>
          <p:cNvPr id="9" name="Text 6"/>
          <p:cNvSpPr txBox="1"/>
          <p:nvPr/>
        </p:nvSpPr>
        <p:spPr>
          <a:xfrm>
            <a:off x="827532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ResNet18, mejor individual</a:t>
            </a:r>
            <a:endParaRPr lang="en-US" sz="1600" dirty="0"/>
          </a:p>
          <a:p>
            <a:pPr indent="0" marL="0">
              <a:spcAft>
                <a:spcPts val="600"/>
              </a:spcAft>
              <a:buNone/>
            </a:pPr>
            <a:r>
              <a:rPr lang="en-US" sz="1400" dirty="0">
                <a:solidFill>
                  <a:schemeClr val="tx2"/>
                </a:solidFill>
              </a:rPr>
              <a:t>Con 9× más datos de prueba la diferencia ya es significativa, pero pequeña (&lt;0.01)</a:t>
            </a:r>
            <a:endParaRPr lang="en-US" sz="1600" dirty="0"/>
          </a:p>
        </p:txBody>
      </p:sp>
      <p:sp>
        <p:nvSpPr>
          <p:cNvPr id="10" name="Text 7"/>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300" i="1" dirty="0">
                <a:solidFill>
                  <a:schemeClr val="accent5"/>
                </a:solidFill>
              </a:rPr>
              <a:t>Mismo protocolo con las 112,120 imágenes (prueba: 16,822); corrida en modo de bajo consumo para evitar los apagados del equipo.</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Por hallazgo, la dificultad pesa más que la arquitectura</a:t>
            </a:r>
            <a:endParaRPr lang="en-US" sz="2800" dirty="0"/>
          </a:p>
        </p:txBody>
      </p:sp>
      <p:pic>
        <p:nvPicPr>
          <p:cNvPr id="3" name="auroc-por-clase" descr="auroc-por-clase">    </p:cNvPr>
          <p:cNvPicPr>
            <a:picLocks noChangeAspect="1"/>
          </p:cNvPicPr>
          <p:nvPr/>
        </p:nvPicPr>
        <p:blipFill>
          <a:blip r:embed="rId1"/>
          <a:stretch>
            <a:fillRect/>
          </a:stretch>
        </p:blipFill>
        <p:spPr>
          <a:xfrm>
            <a:off x="1177962" y="1234440"/>
            <a:ext cx="4776395" cy="5074920"/>
          </a:xfrm>
          <a:prstGeom prst="rect">
            <a:avLst/>
          </a:prstGeom>
        </p:spPr>
      </p:pic>
      <p:sp>
        <p:nvSpPr>
          <p:cNvPr id="4" name="Text 1"/>
          <p:cNvSpPr txBox="1"/>
          <p:nvPr/>
        </p:nvSpPr>
        <p:spPr>
          <a:xfrm>
            <a:off x="6949440" y="1463040"/>
            <a:ext cx="4663440" cy="4754880"/>
          </a:xfrm>
          <a:prstGeom prst="rect">
            <a:avLst/>
          </a:prstGeom>
          <a:noFill/>
          <a:ln/>
        </p:spPr>
        <p:txBody>
          <a:bodyPr wrap="square" lIns="0" tIns="0" rIns="0" bIns="0" rtlCol="0" anchor="t"/>
          <a:lstStyle/>
          <a:p>
            <a:pPr indent="0" marL="0">
              <a:spcAft>
                <a:spcPts val="400"/>
              </a:spcAft>
              <a:buNone/>
            </a:pPr>
            <a:r>
              <a:rPr lang="en-US" sz="1800" b="1" dirty="0">
                <a:solidFill>
                  <a:schemeClr val="tx1"/>
                </a:solidFill>
              </a:rPr>
              <a:t>Más fáciles</a:t>
            </a:r>
            <a:endParaRPr lang="en-US" sz="1800" dirty="0"/>
          </a:p>
          <a:p>
            <a:pPr marL="342900" indent="-342900">
              <a:spcAft>
                <a:spcPts val="400"/>
              </a:spcAft>
              <a:buSzPct val="100000"/>
              <a:buChar char="•"/>
            </a:pPr>
            <a:r>
              <a:rPr lang="en-US" sz="1600" dirty="0">
                <a:solidFill>
                  <a:schemeClr val="tx2"/>
                </a:solidFill>
              </a:rPr>
              <a:t>Emphysema: 0.86</a:t>
            </a:r>
            <a:endParaRPr lang="en-US" sz="1800" dirty="0"/>
          </a:p>
          <a:p>
            <a:pPr marL="342900" indent="-342900">
              <a:spcAft>
                <a:spcPts val="400"/>
              </a:spcAft>
              <a:buSzPct val="100000"/>
              <a:buChar char="•"/>
            </a:pPr>
            <a:r>
              <a:rPr lang="en-US" sz="1600" dirty="0">
                <a:solidFill>
                  <a:schemeClr val="tx2"/>
                </a:solidFill>
              </a:rPr>
              <a:t>Edema: 0.85</a:t>
            </a:r>
            <a:endParaRPr lang="en-US" sz="1800" dirty="0"/>
          </a:p>
          <a:p>
            <a:pPr marL="342900" indent="-342900">
              <a:spcAft>
                <a:spcPts val="400"/>
              </a:spcAft>
              <a:buSzPct val="100000"/>
              <a:buChar char="•"/>
            </a:pPr>
            <a:r>
              <a:rPr lang="en-US" sz="1600" dirty="0">
                <a:solidFill>
                  <a:schemeClr val="tx2"/>
                </a:solidFill>
              </a:rPr>
              <a:t>Effusion: 0.84</a:t>
            </a:r>
            <a:endParaRPr lang="en-US" sz="1800" dirty="0"/>
          </a:p>
          <a:p>
            <a:pPr indent="0" marL="0">
              <a:spcAft>
                <a:spcPts val="400"/>
              </a:spcAft>
              <a:buNone/>
            </a:pPr>
            <a:r>
              <a:rPr lang="en-US" sz="800" dirty="0">
                <a:solidFill>
                  <a:srgbClr val="000000"/>
                </a:solidFill>
              </a:rPr>
              <a:t> </a:t>
            </a:r>
            <a:endParaRPr lang="en-US" sz="1800" dirty="0"/>
          </a:p>
          <a:p>
            <a:pPr indent="0" marL="0">
              <a:spcAft>
                <a:spcPts val="400"/>
              </a:spcAft>
              <a:buNone/>
            </a:pPr>
            <a:r>
              <a:rPr lang="en-US" sz="1800" b="1" dirty="0">
                <a:solidFill>
                  <a:schemeClr val="tx1"/>
                </a:solidFill>
              </a:rPr>
              <a:t>Más difíciles</a:t>
            </a:r>
            <a:endParaRPr lang="en-US" sz="1800" dirty="0"/>
          </a:p>
          <a:p>
            <a:pPr marL="342900" indent="-342900">
              <a:spcAft>
                <a:spcPts val="400"/>
              </a:spcAft>
              <a:buSzPct val="100000"/>
              <a:buChar char="•"/>
            </a:pPr>
            <a:r>
              <a:rPr lang="en-US" sz="1600" dirty="0">
                <a:solidFill>
                  <a:schemeClr val="tx2"/>
                </a:solidFill>
              </a:rPr>
              <a:t>Pneumonia: 0.61</a:t>
            </a:r>
            <a:endParaRPr lang="en-US" sz="1800" dirty="0"/>
          </a:p>
          <a:p>
            <a:pPr marL="342900" indent="-342900">
              <a:spcAft>
                <a:spcPts val="400"/>
              </a:spcAft>
              <a:buSzPct val="100000"/>
              <a:buChar char="•"/>
            </a:pPr>
            <a:r>
              <a:rPr lang="en-US" sz="1600" dirty="0">
                <a:solidFill>
                  <a:schemeClr val="tx2"/>
                </a:solidFill>
              </a:rPr>
              <a:t>Nodule: 0.63</a:t>
            </a:r>
            <a:endParaRPr lang="en-US" sz="1800" dirty="0"/>
          </a:p>
          <a:p>
            <a:pPr marL="342900" indent="-342900">
              <a:spcAft>
                <a:spcPts val="400"/>
              </a:spcAft>
              <a:buSzPct val="100000"/>
              <a:buChar char="•"/>
            </a:pPr>
            <a:r>
              <a:rPr lang="en-US" sz="1600" dirty="0">
                <a:solidFill>
                  <a:schemeClr val="tx2"/>
                </a:solidFill>
              </a:rPr>
              <a:t>Infiltration: 0.67</a:t>
            </a:r>
            <a:endParaRPr lang="en-US" sz="1800" dirty="0"/>
          </a:p>
          <a:p>
            <a:pPr indent="0" marL="0">
              <a:spcAft>
                <a:spcPts val="400"/>
              </a:spcAft>
              <a:buNone/>
            </a:pPr>
            <a:r>
              <a:rPr lang="en-US" sz="800" dirty="0">
                <a:solidFill>
                  <a:srgbClr val="000000"/>
                </a:solidFill>
              </a:rPr>
              <a:t> </a:t>
            </a:r>
            <a:endParaRPr lang="en-US" sz="1800" dirty="0"/>
          </a:p>
          <a:p>
            <a:pPr indent="0" marL="0">
              <a:spcAft>
                <a:spcPts val="400"/>
              </a:spcAft>
              <a:buNone/>
            </a:pPr>
            <a:r>
              <a:rPr lang="en-US" sz="1300" i="1" dirty="0">
                <a:solidFill>
                  <a:schemeClr val="accent5"/>
                </a:solidFill>
              </a:rPr>
              <a:t>Promedio de los cuatro modelos. Los hallazgos con pocos positivos en prueba (p. ej. Hernia, n=8) tienen estimaciones inestables.</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ViT y MaxViT: ~13× más lentos que ResNet18</a:t>
            </a:r>
            <a:endParaRPr lang="en-US" sz="2800" dirty="0"/>
          </a:p>
        </p:txBody>
      </p:sp>
      <p:graphicFrame>
        <p:nvGraphicFramePr>
          <p:cNvPr id="3" name="costo-0" descr=""/>
          <p:cNvGraphicFramePr/>
          <p:nvPr/>
        </p:nvGraphicFramePr>
        <p:xfrm>
          <a:off x="548640" y="1325880"/>
          <a:ext cx="356616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osto-1" descr=""/>
          <p:cNvGraphicFramePr/>
          <p:nvPr/>
        </p:nvGraphicFramePr>
        <p:xfrm>
          <a:off x="4297680" y="1325880"/>
          <a:ext cx="3566160" cy="42062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osto-2" descr=""/>
          <p:cNvGraphicFramePr/>
          <p:nvPr/>
        </p:nvGraphicFramePr>
        <p:xfrm>
          <a:off x="8046720" y="1325880"/>
          <a:ext cx="3566160" cy="4206240"/>
        </p:xfrm>
        <a:graphic xmlns:a="http://schemas.openxmlformats.org/drawingml/2006/main">
          <a:graphicData uri="http://schemas.openxmlformats.org/drawingml/2006/chart">
            <c:chart xmlns:c="http://schemas.openxmlformats.org/drawingml/2006/chart" r:id="rId3"/>
          </a:graphicData>
        </a:graphic>
      </p:graphicFrame>
      <p:sp>
        <p:nvSpPr>
          <p:cNvPr id="6" name="Text 1"/>
          <p:cNvSpPr txBox="1"/>
          <p:nvPr/>
        </p:nvSpPr>
        <p:spPr>
          <a:xfrm>
            <a:off x="548640" y="5669280"/>
            <a:ext cx="11064240" cy="640080"/>
          </a:xfrm>
          <a:prstGeom prst="rect">
            <a:avLst/>
          </a:prstGeom>
          <a:noFill/>
          <a:ln/>
        </p:spPr>
        <p:txBody>
          <a:bodyPr wrap="square" lIns="0" tIns="0" rIns="0" bIns="0" rtlCol="0" anchor="ctr"/>
          <a:lstStyle/>
          <a:p>
            <a:pPr indent="0" marL="0">
              <a:buNone/>
            </a:pPr>
            <a:r>
              <a:rPr lang="en-US" sz="1400" dirty="0">
                <a:solidFill>
                  <a:schemeClr val="tx2"/>
                </a:solidFill>
              </a:rPr>
              <a:t>Tiempo total de entrenamiento (5 épocas): DenseNet121 190 s · ResNet18 187 s · ViT-B/16 275 s · MaxViT-T 215 s. Entre los modelos individuales, ResNet18 es el mejor compromiso: el más rápido y el que menos memoria usa.</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¿Dónde miran los modelos?</a:t>
            </a:r>
            <a:endParaRPr lang="en-US" sz="2800" dirty="0"/>
          </a:p>
        </p:txBody>
      </p:sp>
      <p:pic>
        <p:nvPicPr>
          <p:cNvPr id="3" name="gradcam" descr="gradcam">    </p:cNvPr>
          <p:cNvPicPr>
            <a:picLocks noChangeAspect="1"/>
          </p:cNvPicPr>
          <p:nvPr/>
        </p:nvPicPr>
        <p:blipFill>
          <a:blip r:embed="rId1"/>
          <a:stretch>
            <a:fillRect/>
          </a:stretch>
        </p:blipFill>
        <p:spPr>
          <a:xfrm>
            <a:off x="670560" y="1188720"/>
            <a:ext cx="6339840" cy="4754880"/>
          </a:xfrm>
          <a:prstGeom prst="rect">
            <a:avLst/>
          </a:prstGeom>
        </p:spPr>
      </p:pic>
      <p:pic>
        <p:nvPicPr>
          <p:cNvPr id="4" name="atencion-vit" descr="atencion-vit">    </p:cNvPr>
          <p:cNvPicPr>
            <a:picLocks noChangeAspect="1"/>
          </p:cNvPicPr>
          <p:nvPr/>
        </p:nvPicPr>
        <p:blipFill>
          <a:blip r:embed="rId2"/>
          <a:stretch>
            <a:fillRect/>
          </a:stretch>
        </p:blipFill>
        <p:spPr>
          <a:xfrm>
            <a:off x="7406640" y="1325880"/>
            <a:ext cx="4480560" cy="4480560"/>
          </a:xfrm>
          <a:prstGeom prst="rect">
            <a:avLst/>
          </a:prstGeom>
        </p:spPr>
      </p:pic>
      <p:sp>
        <p:nvSpPr>
          <p:cNvPr id="5" name="Text 1"/>
          <p:cNvSpPr txBox="1"/>
          <p:nvPr/>
        </p:nvSpPr>
        <p:spPr>
          <a:xfrm>
            <a:off x="365760" y="5989320"/>
            <a:ext cx="6949440" cy="365760"/>
          </a:xfrm>
          <a:prstGeom prst="rect">
            <a:avLst/>
          </a:prstGeom>
          <a:noFill/>
          <a:ln/>
        </p:spPr>
        <p:txBody>
          <a:bodyPr wrap="square" lIns="0" tIns="0" rIns="0" bIns="0" rtlCol="0" anchor="ctr"/>
          <a:lstStyle/>
          <a:p>
            <a:pPr algn="ctr" indent="0" marL="0">
              <a:buNone/>
            </a:pPr>
            <a:r>
              <a:rPr lang="en-US" sz="1300" dirty="0">
                <a:solidFill>
                  <a:schemeClr val="accent5"/>
                </a:solidFill>
              </a:rPr>
              <a:t>Grad-CAM: DenseNet121, ResNet18 y MaxViT-T (híbrido), para la clase real</a:t>
            </a:r>
            <a:endParaRPr lang="en-US" sz="1300" dirty="0"/>
          </a:p>
        </p:txBody>
      </p:sp>
      <p:sp>
        <p:nvSpPr>
          <p:cNvPr id="6" name="Text 2"/>
          <p:cNvSpPr txBox="1"/>
          <p:nvPr/>
        </p:nvSpPr>
        <p:spPr>
          <a:xfrm>
            <a:off x="7406640" y="5989320"/>
            <a:ext cx="4480560" cy="365760"/>
          </a:xfrm>
          <a:prstGeom prst="rect">
            <a:avLst/>
          </a:prstGeom>
          <a:noFill/>
          <a:ln/>
        </p:spPr>
        <p:txBody>
          <a:bodyPr wrap="square" lIns="0" tIns="0" rIns="0" bIns="0" rtlCol="0" anchor="ctr"/>
          <a:lstStyle/>
          <a:p>
            <a:pPr algn="ctr" indent="0" marL="0">
              <a:buNone/>
            </a:pPr>
            <a:r>
              <a:rPr lang="en-US" sz="1300" dirty="0">
                <a:solidFill>
                  <a:schemeClr val="accent5"/>
                </a:solidFill>
              </a:rPr>
              <a:t>ViT-B/16: atención del último bloque y rollout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bg1"/>
                </a:solidFill>
              </a:rPr>
              <a:t>Conclusiones</a:t>
            </a:r>
            <a:endParaRPr lang="en-US" sz="2800" dirty="0"/>
          </a:p>
        </p:txBody>
      </p:sp>
      <p:sp>
        <p:nvSpPr>
          <p:cNvPr id="3" name="Shape 1"/>
          <p:cNvSpPr/>
          <p:nvPr/>
        </p:nvSpPr>
        <p:spPr>
          <a:xfrm>
            <a:off x="548640" y="1399032"/>
            <a:ext cx="274320" cy="274320"/>
          </a:xfrm>
          <a:prstGeom prst="ellipse">
            <a:avLst/>
          </a:prstGeom>
          <a:solidFill>
            <a:srgbClr val="2A78D6"/>
          </a:solidFill>
          <a:ln w="12700">
            <a:solidFill>
              <a:srgbClr val="2A78D6"/>
            </a:solidFill>
            <a:prstDash val="solid"/>
          </a:ln>
        </p:spPr>
      </p:sp>
      <p:sp>
        <p:nvSpPr>
          <p:cNvPr id="4" name="Text 2"/>
          <p:cNvSpPr txBox="1"/>
          <p:nvPr/>
        </p:nvSpPr>
        <p:spPr>
          <a:xfrm>
            <a:off x="1051560" y="1325880"/>
            <a:ext cx="10515600" cy="914400"/>
          </a:xfrm>
          <a:prstGeom prst="rect">
            <a:avLst/>
          </a:prstGeom>
          <a:noFill/>
          <a:ln/>
        </p:spPr>
        <p:txBody>
          <a:bodyPr wrap="square" lIns="0" tIns="0" rIns="0" bIns="0" rtlCol="0" anchor="t"/>
          <a:lstStyle/>
          <a:p>
            <a:pPr indent="0" marL="0">
              <a:buNone/>
            </a:pPr>
            <a:r>
              <a:rPr lang="en-US" sz="1800" b="1" dirty="0">
                <a:solidFill>
                  <a:schemeClr val="bg1"/>
                </a:solidFill>
              </a:rPr>
              <a:t>Desempeño</a:t>
            </a:r>
            <a:endParaRPr lang="en-US" sz="1800" dirty="0"/>
          </a:p>
          <a:p>
            <a:pPr indent="0" marL="0">
              <a:buNone/>
            </a:pPr>
            <a:r>
              <a:rPr lang="en-US" sz="1500" dirty="0">
                <a:solidFill>
                  <a:schemeClr val="accent6"/>
                </a:solidFill>
              </a:rPr>
              <a:t>Rinden casi igual (AUROC 0.73–0.75); con 112k todos suben ~0.05 y ResNet18 gana por &lt;0.01.</a:t>
            </a:r>
            <a:endParaRPr lang="en-US" sz="1800" dirty="0"/>
          </a:p>
        </p:txBody>
      </p:sp>
      <p:sp>
        <p:nvSpPr>
          <p:cNvPr id="5" name="Shape 3"/>
          <p:cNvSpPr/>
          <p:nvPr/>
        </p:nvSpPr>
        <p:spPr>
          <a:xfrm>
            <a:off x="548640" y="2423160"/>
            <a:ext cx="274320" cy="274320"/>
          </a:xfrm>
          <a:prstGeom prst="ellipse">
            <a:avLst/>
          </a:prstGeom>
          <a:solidFill>
            <a:srgbClr val="6250D6"/>
          </a:solidFill>
          <a:ln w="12700">
            <a:solidFill>
              <a:srgbClr val="6250D6"/>
            </a:solidFill>
            <a:prstDash val="solid"/>
          </a:ln>
        </p:spPr>
      </p:sp>
      <p:sp>
        <p:nvSpPr>
          <p:cNvPr id="6" name="Text 4"/>
          <p:cNvSpPr txBox="1"/>
          <p:nvPr/>
        </p:nvSpPr>
        <p:spPr>
          <a:xfrm>
            <a:off x="1051560" y="2350008"/>
            <a:ext cx="10515600" cy="914400"/>
          </a:xfrm>
          <a:prstGeom prst="rect">
            <a:avLst/>
          </a:prstGeom>
          <a:noFill/>
          <a:ln/>
        </p:spPr>
        <p:txBody>
          <a:bodyPr wrap="square" lIns="0" tIns="0" rIns="0" bIns="0" rtlCol="0" anchor="t"/>
          <a:lstStyle/>
          <a:p>
            <a:pPr indent="0" marL="0">
              <a:buNone/>
            </a:pPr>
            <a:r>
              <a:rPr lang="en-US" sz="1800" b="1" dirty="0">
                <a:solidFill>
                  <a:schemeClr val="bg1"/>
                </a:solidFill>
              </a:rPr>
              <a:t>Ensemble e híbrido</a:t>
            </a:r>
            <a:endParaRPr lang="en-US" sz="1800" dirty="0"/>
          </a:p>
          <a:p>
            <a:pPr indent="0" marL="0">
              <a:buNone/>
            </a:pPr>
            <a:r>
              <a:rPr lang="en-US" sz="1500" dirty="0">
                <a:solidFill>
                  <a:schemeClr val="accent6"/>
                </a:solidFill>
              </a:rPr>
              <a:t>Combinar los cuatro mejora a todos (AUROC 0.767). Con 112k llega a 0.813. El híbrido es el que más gana con más datos.</a:t>
            </a:r>
            <a:endParaRPr lang="en-US" sz="1800" dirty="0"/>
          </a:p>
        </p:txBody>
      </p:sp>
      <p:sp>
        <p:nvSpPr>
          <p:cNvPr id="7" name="Shape 5"/>
          <p:cNvSpPr/>
          <p:nvPr/>
        </p:nvSpPr>
        <p:spPr>
          <a:xfrm>
            <a:off x="548640" y="3447288"/>
            <a:ext cx="274320" cy="274320"/>
          </a:xfrm>
          <a:prstGeom prst="ellipse">
            <a:avLst/>
          </a:prstGeom>
          <a:solidFill>
            <a:srgbClr val="EB6834"/>
          </a:solidFill>
          <a:ln w="12700">
            <a:solidFill>
              <a:srgbClr val="EB6834"/>
            </a:solidFill>
            <a:prstDash val="solid"/>
          </a:ln>
        </p:spPr>
      </p:sp>
      <p:sp>
        <p:nvSpPr>
          <p:cNvPr id="8" name="Text 6"/>
          <p:cNvSpPr txBox="1"/>
          <p:nvPr/>
        </p:nvSpPr>
        <p:spPr>
          <a:xfrm>
            <a:off x="1051560" y="3374136"/>
            <a:ext cx="10515600" cy="914400"/>
          </a:xfrm>
          <a:prstGeom prst="rect">
            <a:avLst/>
          </a:prstGeom>
          <a:noFill/>
          <a:ln/>
        </p:spPr>
        <p:txBody>
          <a:bodyPr wrap="square" lIns="0" tIns="0" rIns="0" bIns="0" rtlCol="0" anchor="t"/>
          <a:lstStyle/>
          <a:p>
            <a:pPr indent="0" marL="0">
              <a:buNone/>
            </a:pPr>
            <a:r>
              <a:rPr lang="en-US" sz="1800" b="1" dirty="0">
                <a:solidFill>
                  <a:schemeClr val="bg1"/>
                </a:solidFill>
              </a:rPr>
              <a:t>Costo</a:t>
            </a:r>
            <a:endParaRPr lang="en-US" sz="1800" dirty="0"/>
          </a:p>
          <a:p>
            <a:pPr indent="0" marL="0">
              <a:buNone/>
            </a:pPr>
            <a:r>
              <a:rPr lang="en-US" sz="1500" dirty="0">
                <a:solidFill>
                  <a:schemeClr val="accent6"/>
                </a:solidFill>
              </a:rPr>
              <a:t>ResNet18 es el mejor compromiso individual; ViT y MaxViT son ~13× más lentos sin rendir más.</a:t>
            </a:r>
            <a:endParaRPr lang="en-US" sz="1800" dirty="0"/>
          </a:p>
        </p:txBody>
      </p:sp>
      <p:sp>
        <p:nvSpPr>
          <p:cNvPr id="9" name="Shape 7"/>
          <p:cNvSpPr/>
          <p:nvPr/>
        </p:nvSpPr>
        <p:spPr>
          <a:xfrm>
            <a:off x="548640" y="4471416"/>
            <a:ext cx="274320" cy="274320"/>
          </a:xfrm>
          <a:prstGeom prst="ellipse">
            <a:avLst/>
          </a:prstGeom>
          <a:solidFill>
            <a:srgbClr val="1BAF7A"/>
          </a:solidFill>
          <a:ln w="12700">
            <a:solidFill>
              <a:srgbClr val="1BAF7A"/>
            </a:solidFill>
            <a:prstDash val="solid"/>
          </a:ln>
        </p:spPr>
      </p:sp>
      <p:sp>
        <p:nvSpPr>
          <p:cNvPr id="10" name="Text 8"/>
          <p:cNvSpPr txBox="1"/>
          <p:nvPr/>
        </p:nvSpPr>
        <p:spPr>
          <a:xfrm>
            <a:off x="1051560" y="4398264"/>
            <a:ext cx="10515600" cy="914400"/>
          </a:xfrm>
          <a:prstGeom prst="rect">
            <a:avLst/>
          </a:prstGeom>
          <a:noFill/>
          <a:ln/>
        </p:spPr>
        <p:txBody>
          <a:bodyPr wrap="square" lIns="0" tIns="0" rIns="0" bIns="0" rtlCol="0" anchor="t"/>
          <a:lstStyle/>
          <a:p>
            <a:pPr indent="0" marL="0">
              <a:buNone/>
            </a:pPr>
            <a:r>
              <a:rPr lang="en-US" sz="1800" b="1" dirty="0">
                <a:solidFill>
                  <a:schemeClr val="bg1"/>
                </a:solidFill>
              </a:rPr>
              <a:t>Método</a:t>
            </a:r>
            <a:endParaRPr lang="en-US" sz="1800" dirty="0"/>
          </a:p>
          <a:p>
            <a:pPr indent="0" marL="0">
              <a:buNone/>
            </a:pPr>
            <a:r>
              <a:rPr lang="en-US" sz="1500" dirty="0">
                <a:solidFill>
                  <a:schemeClr val="accent6"/>
                </a:solidFill>
              </a:rPr>
              <a:t>Split por paciente, umbral en validación, intervalos de confianza y repetir el experimento evitaron sobreinterpretar diferencias pequeñas.</a:t>
            </a:r>
            <a:endParaRPr lang="en-US" sz="1800" dirty="0"/>
          </a:p>
        </p:txBody>
      </p:sp>
      <p:sp>
        <p:nvSpPr>
          <p:cNvPr id="11" name="Text 9"/>
          <p:cNvSpPr txBox="1"/>
          <p:nvPr/>
        </p:nvSpPr>
        <p:spPr>
          <a:xfrm>
            <a:off x="548640" y="5440680"/>
            <a:ext cx="11064240" cy="822960"/>
          </a:xfrm>
          <a:prstGeom prst="rect">
            <a:avLst/>
          </a:prstGeom>
          <a:noFill/>
          <a:ln/>
        </p:spPr>
        <p:txBody>
          <a:bodyPr wrap="square" lIns="0" tIns="0" rIns="0" bIns="0" rtlCol="0" anchor="ctr"/>
          <a:lstStyle/>
          <a:p>
            <a:pPr indent="0" marL="0">
              <a:buNone/>
            </a:pPr>
            <a:r>
              <a:rPr lang="en-US" sz="1300" i="1" dirty="0">
                <a:solidFill>
                  <a:schemeClr val="accent6"/>
                </a:solidFill>
              </a:rPr>
              <a:t>Limitaciones: resultados principales con 12k imágenes (confirmados con 112k), etiquetas ruidosas, 5 épocas con fine-tuning parcial, una semilla por corrida, 224 px. Trabajo futuro: fine-tuning completo y más épocas, aprendizaje auto-supervisado sobre radiografías sin etiquetar, y multimodalidad (edad, sexo, proyección y texto del reporte).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D"/>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Radiografia">
  <a:themeElements>
    <a:clrScheme name="Radiografia">
      <a:dk1>
        <a:srgbClr val="1B2430"/>
      </a:dk1>
      <a:lt1>
        <a:srgbClr val="FFFFFF"/>
      </a:lt1>
      <a:dk2>
        <a:srgbClr val="3A4756"/>
      </a:dk2>
      <a:lt2>
        <a:srgbClr val="EEF2F5"/>
      </a:lt2>
      <a:accent1>
        <a:srgbClr val="2A78D6"/>
      </a:accent1>
      <a:accent2>
        <a:srgbClr val="EB6834"/>
      </a:accent2>
      <a:accent3>
        <a:srgbClr val="1BAF7A"/>
      </a:accent3>
      <a:accent4>
        <a:srgbClr val="EDA100"/>
      </a:accent4>
      <a:accent5>
        <a:srgbClr val="6B7A8C"/>
      </a:accent5>
      <a:accent6>
        <a:srgbClr val="C9D3DD"/>
      </a:accent6>
      <a:hlink>
        <a:srgbClr val="2A78D6"/>
      </a:hlink>
      <a:folHlink>
        <a:srgbClr val="6B7A8C"/>
      </a:folHlink>
    </a:clrScheme>
    <a:fontScheme name="Radiografi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CNN, Transformer e híbrido CNN-Transformer en NIH ChestX-ray14</dc:title>
  <dc:subject>PptxGenJS Presentation</dc:subject>
  <dc:creator>Alfredo Gallegos López</dc:creator>
  <cp:lastModifiedBy>Alfredo Gallegos López</cp:lastModifiedBy>
  <cp:revision>1</cp:revision>
  <dcterms:created xsi:type="dcterms:W3CDTF">2026-10-15T15:17:54Z</dcterms:created>
  <dcterms:modified xsi:type="dcterms:W3CDTF">2026-10-15T15:17:54Z</dcterms:modified>
</cp:coreProperties>
</file>