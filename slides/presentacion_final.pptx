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e92d3aec-c598-4672-61ba-0d6c72eb4f33}">
          <p14:sldIdLst>
            <p14:sldId id="256"/>
            <p14:sldId id="257"/>
          </p14:sldIdLst>
        </p14:section>
        <p14:section name="Método" id="{dfef0bd7-24b9-c1fe-5221-793aef01a508}">
          <p14:sldIdLst>
            <p14:sldId id="258"/>
          </p14:sldIdLst>
        </p14:section>
        <p14:section name="Resultados" id="{5b22fe61-2743-6f92-bc32-a35a72499801}">
          <p14:sldIdLst>
            <p14:sldId id="259"/>
            <p14:sldId id="260"/>
            <p14:sldId id="261"/>
            <p14:sldId id="262"/>
            <p14:sldId id="263"/>
            <p14:sldId id="264"/>
          </p14:sldIdLst>
        </p14:section>
        <p14:section name="Cierre" id="{c3b5c11c-22ae-ff83-e0af-d9e45cee98fc}">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Parámetros totales (millones)</a:t>
            </a:r>
          </a:p>
        </c:rich>
      </c:tx>
      <c:layout/>
      <c:overlay val="0"/>
    </c:title>
    <c:autoTitleDeleted val="0"/>
    <c:plotArea>
      <c:layout/>
      <c:barChart>
        <c:barDir val="col"/>
        <c:grouping val="clustered"/>
        <c:varyColors val="0"/>
        <c:ser>
          <c:idx val="0"/>
          <c:order val="0"/>
          <c:tx>
            <c:strRef>
              <c:f>Sheet1!$B$1</c:f>
              <c:strCache>
                <c:ptCount val="1"/>
                <c:pt idx="0">
                  <c:v>Parámetros totales (millones)</c:v>
                </c:pt>
              </c:strCache>
            </c:strRef>
          </c:tx>
          <c:spPr>
            <a:solidFill>
              <a:srgbClr val="2A78D6"/>
            </a:solidFill>
            <a:effectLst/>
          </c:spPr>
          <c:invertIfNegative val="0"/>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7</c:v>
                </c:pt>
                <c:pt idx="1">
                  <c:v>11.2</c:v>
                </c:pt>
                <c:pt idx="2">
                  <c:v>85.8</c:v>
                </c:pt>
                <c:pt idx="3">
                  <c:v>30.4</c:v>
                </c:pt>
              </c:numCache>
            </c:numRef>
          </c:val>
        </c:ser>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Memoria GPU pico (MB)</a:t>
            </a:r>
          </a:p>
        </c:rich>
      </c:tx>
      <c:layout/>
      <c:overlay val="0"/>
    </c:title>
    <c:autoTitleDeleted val="0"/>
    <c:plotArea>
      <c:layout/>
      <c:barChart>
        <c:barDir val="col"/>
        <c:grouping val="clustered"/>
        <c:varyColors val="0"/>
        <c:ser>
          <c:idx val="0"/>
          <c:order val="0"/>
          <c:tx>
            <c:strRef>
              <c:f>Sheet1!$B$1</c:f>
              <c:strCache>
                <c:ptCount val="1"/>
                <c:pt idx="0">
                  <c:v>Memoria GPU pico (MB)</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442</c:v>
                </c:pt>
                <c:pt idx="1">
                  <c:v>418</c:v>
                </c:pt>
                <c:pt idx="2">
                  <c:v>980</c:v>
                </c:pt>
                <c:pt idx="3">
                  <c:v>1315</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Inferencia (imágenes/s)</a:t>
            </a:r>
          </a:p>
        </c:rich>
      </c:tx>
      <c:layout/>
      <c:overlay val="0"/>
    </c:title>
    <c:autoTitleDeleted val="0"/>
    <c:plotArea>
      <c:layout/>
      <c:barChart>
        <c:barDir val="col"/>
        <c:grouping val="clustered"/>
        <c:varyColors val="0"/>
        <c:ser>
          <c:idx val="0"/>
          <c:order val="0"/>
          <c:tx>
            <c:strRef>
              <c:f>Sheet1!$B$1</c:f>
              <c:strCache>
                <c:ptCount val="1"/>
                <c:pt idx="0">
                  <c:v>Inferencia (imágenes/s)</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1156</c:v>
                </c:pt>
                <c:pt idx="1">
                  <c:v>4754</c:v>
                </c:pt>
                <c:pt idx="2">
                  <c:v>360</c:v>
                </c:pt>
                <c:pt idx="3">
                  <c:v>373</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tardes, soy Alfredo Gallegos López.
Hoy quiero responder una pregunta sencilla: si queremos que una computadora lea radiografías de tórax, ¿qué conviene más? ¿Una red convolucional, un Transformer, o una mezcla de los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importa? Hay muchas más radiografías que radiólogos para leerlas, y un modelo así podría ayudar a atender primero los casos urgentes.
Trabajé con ChestX-ray14: ciento doce mil radiografías de unos treinta mil pacientes, con catorce posibles hallazgos.
Y es difícil por tres razones:
• Una misma radiografía puede tener varios hallazgos a la vez.
• Las etiquetas tienen errores, porque salieron automáticamente de los reportes médicos.
• Hay hallazgos rarísimos. La hernia aparece en apenas dos de cada mil imágenes.
Por eso no comparo con el porcentaje de aciertos, sino con el AUROC. La idea es simple: si le doy al modelo una radiografía enferma y una sana, ¿qué tan seguido le da más puntaje a la enferma? Medio punto es adivinar al azar; uno es perfecto.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que sea justo, los cuatro modelos siguen las mismas reglas.
Primero, separé las imágenes por paciente: nadie aparece al mismo tiempo en entrenamiento y en prueba. Si no, sería como dejar que el alumno vea el examen antes de presentarlo.
Los modelos son cuatro:
• Dos redes convolucionales, DenseNet y ResNet. Miran la imagen con filtros pequeños, como una lupa que recorre la placa.
• Un Transformer, el ViT. Corta la imagen en cuadritos y los compara todos entre sí.
• Un híbrido, MaxViT, que combina las dos ideas.
Ninguno empieza de cero. Todos vienen entrenados con millones de fotos normales, y yo solo reentreno su última parte. Es como contratar a alguien que ya sabe mirar imágenes y enseñarle solamente a leer radiografías. A esto se le llama fine-tuning parcial.
Y además pruebo un ensemble: juntar a los cuatro modelos y promediar su opinión.
(Opcional) Y para saber si una diferencia es real o es suerte, uso intervalos de confianza: repito la evaluación mil veces con muestras distintas y veo cuánto se mueve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[Señala la tabla completa; las cuatro primeras filas son los modelos y la última, sombreada, el ensemble] Este es el resultado principal.
Los cuatro modelos quedan muy parejos, entre 0.73 y 0.75 de AUROC, y sus diferencias están dentro del margen de error. De hecho, cuando repetí el experimento, el orden cambió.
En cambio, el ensemble [señala la última fila] sí destaca: llega a 0.77 y le gana a todos, con diferencia significativa.
También reporto el F1, que mide si el modelo encuentra los casos sin dar falsas alarmas. Con el umbral típico de 0.5 sale casi en cero, porque el modelo casi nunca se anima a decir "sí"; al ajustar el umbral de cada enfermedad con validación, sube a cerca de 0.2.
Y un detalle curioso. [Señala la columna "Exactitud", la penúltima: todos los valores son 0.950] La exactitud es de 95% para todos. Suena muy bien, ¿verdad? Pero un modelo que siempre dice "está sano" también saca 95%. Así que aquí no sirve para comparar.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funciona el ensemble? Por lo mismo que una segunda opinión médica: cada modelo se equivoca en cosas distintas, y al juntarlos, los errores se compensan.
¿Y el híbrido? Quedó en último lugar. Pero miren su curva. [Señala en la gráfica de la derecha la línea amarilla, "maxvit_t", que sigue bajando hasta la época 5] Todavía estaba aprendiendo cuando se terminó el entrenamiento. Simplemente le faltó tiempo.
ResNet, en cambio, [señala la línea naranja, "resnet18", que se dispara hacia arriba al final] aprende tan rápido que pronto empieza a memorizar. Por eso siempre uso su mejor momento, no el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Después repetí todo con las ciento doce mil imágenes y las mismas reglas: solo cambia la cantidad de datos.
Mi computadora se apagaba con tanta carga, así que puse la tarjeta gráfica a medio ritmo. Tardó casi cuatro horas, pero sin un solo apagado.
¿El resultado? [Señala la columna "Cambio": todos alrededor de +0.05] Todos mejoran unos cinco puntos. El híbrido es el que más gana, y ahora sí termina de aprender: confirma que le faltaban datos. El ensemble sube a 0.81, muy cerca de los mejores trabajos publicados. Y ResNet ya se separa como el mejor individual, aunque por muy poquito.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Además, la dificultad depende más de la enfermedad que del modelo. Las que son grandes y evidentes, como el edema o el derrame [señala las filas de arriba de la gráfica, "Edema" y "Effusion", con puntos a la derecha], se detectan bien. Las pequeñas, como los nódulos [señala las filas de abajo, "Nodule" e "Infiltration", con puntos más a la izquierda], les cuestan a todos.
(Opcional) Y la neumonía también cuesta, porque en la radiografía se parece mucho a la infiltración, y hasta las etiquetas las confunden.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donde sí hay diferencias grandes es en el costo.
El ViT tiene doce veces más parámetros que DenseNet. [Señala la gráfica de la derecha, "Inferencia": la barra naranja de ResNet es la más alta] Y el ViT y el híbrido son unas trece veces más lentos que ResNet para clasificar, sin dar mejores resultados. En memoria pasa lo mismo: usan entre dos y tres veces más.
(Opcional) Entrenar cada modelo tomó de tres a cinco minutos con 12 mil imágenes, y de ocho a cuarenta con las 112 mil.
Si tuviera que elegir uno para la práctica, sería ResNet: rinde igual o mejor, y es el más rápido y ligero.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último, quise ver dónde miran los modelos. Para eso usé Grad-CAM, que pinta de rojo las zonas que más influyeron en la decisión.
Cada fila es un paciente: [recorre con el dedo la primera fila de izquierda a derecha] primero la radiografía original y luego dónde miró cada modelo.
[Señala la fila de en medio, la marcada "Derrame pleural" a la izquierda, y en ella las columnas 2 y 3 (DenseNet y ResNet): la mancha roja grande en el centro del tórax] Cuando hay derrame, las redes convolucionales ponen la mancha roja justo donde está el problema.
[Señala la fila de arriba, "Infiltración": las manchas rojas quedan en los bordes, fuera de los pulmones] Pero aquí miran las orillas de la imagen, o la etiqueta de texto que dice "PORTABLE".
(Opcional) [Señala la figura de la derecha, la del ViT, columna del medio] En el Transformer, el mapa que combina todas sus capas se va a las esquinas de la imagen: estos mapas hay que leerlos con cuidado.
Eso es una alerta: un modelo puede acertar por las razones equivocadas, y un buen puntaje no garantiza que vea lo que vería un médico.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me quedo con tres ideas:
Uno. Con las mismas reglas, convolucional, Transformer e híbrido rinden casi igual. Con más datos todos mejoran, y ResNet gana por poco.
Dos. Lo que sí marca la diferencia es combinarlos, y en la práctica, el costo, donde ResNet es el más eficiente.
Y tres. Medir bien importa tanto como el modelo. Separar por paciente, usar intervalos de confianza y repetir el experimento evitó conclusiones equivocadas.
(Opcional) Claro, el trabajo tiene limitaciones: las etiquetas tienen ruido, usé una sola semilla por corrida y reentrené solo la última parte de cada red.
Como siguientes pasos: reentrenar la red completa, aprovechar radiografías sin etiquetas y sumar datos clínicos del paciente, como su edad o el texto del reporte.
[Pausa] Muchas gracias. Quedo atento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Proyecto Final · Deep Learning · NIH ChestX-ray14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bg1"/>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nchor="b"/>
          <a:lstStyle/>
          <a:p>
            <a:pPr indent="0" marL="0">
              <a:buNone/>
            </a:pPr>
            <a:r>
              <a:rPr lang="en-US" sz="4000" b="1" dirty="0">
                <a:solidFill>
                  <a:schemeClr val="bg1"/>
                </a:solidFill>
              </a:rPr>
              <a:t>¿CNN, Transformer o híbrido para radiografías de tórax?</a:t>
            </a: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nchor="t"/>
          <a:lstStyle/>
          <a:p>
            <a:pPr indent="0" marL="0">
              <a:buNone/>
            </a:pPr>
            <a:r>
              <a:rPr lang="en-US" sz="1800" dirty="0">
                <a:solidFill>
                  <a:schemeClr val="accent6"/>
                </a:solidFill>
              </a:rPr>
              <a:t>Comparación de DenseNet121, ResNet18, ViT-B/16, MaxViT-T (híbrido) y un ensemble en NIH ChestX-ray14</a:t>
            </a:r>
            <a:endParaRPr lang="en-US" sz="1800" dirty="0"/>
          </a:p>
          <a:p>
            <a:pPr indent="0" marL="0">
              <a:buNone/>
            </a:pPr>
            <a:r>
              <a:rPr lang="en-US" sz="1400" dirty="0">
                <a:solidFill>
                  <a:schemeClr val="accent6"/>
                </a:solidFill>
              </a:rPr>
              <a:t>Alfredo Gallegos López · Universidad Panamericana, Aguascalientes · Proyecto Final de Deep Learning · Octubre 2026</a:t>
            </a:r>
            <a:endParaRPr lang="en-US" sz="1800" dirty="0"/>
          </a:p>
        </p:txBody>
      </p:sp>
      <p:sp>
        <p:nvSpPr>
          <p:cNvPr id="4" name="Shape 2"/>
          <p:cNvSpPr/>
          <p:nvPr/>
        </p:nvSpPr>
        <p:spPr>
          <a:xfrm>
            <a:off x="731520" y="1417320"/>
            <a:ext cx="182880" cy="182880"/>
          </a:xfrm>
          <a:prstGeom prst="ellipse">
            <a:avLst/>
          </a:prstGeom>
          <a:solidFill>
            <a:srgbClr val="2A78D6"/>
          </a:solidFill>
          <a:ln w="12700">
            <a:solidFill>
              <a:srgbClr val="2A78D6"/>
            </a:solidFill>
            <a:prstDash val="solid"/>
          </a:ln>
        </p:spPr>
      </p:sp>
      <p:sp>
        <p:nvSpPr>
          <p:cNvPr id="5" name="Shape 3"/>
          <p:cNvSpPr/>
          <p:nvPr/>
        </p:nvSpPr>
        <p:spPr>
          <a:xfrm>
            <a:off x="1051560" y="1417320"/>
            <a:ext cx="182880" cy="182880"/>
          </a:xfrm>
          <a:prstGeom prst="ellipse">
            <a:avLst/>
          </a:prstGeom>
          <a:solidFill>
            <a:srgbClr val="EB6834"/>
          </a:solidFill>
          <a:ln w="12700">
            <a:solidFill>
              <a:srgbClr val="EB6834"/>
            </a:solidFill>
            <a:prstDash val="solid"/>
          </a:ln>
        </p:spPr>
      </p:sp>
      <p:sp>
        <p:nvSpPr>
          <p:cNvPr id="6" name="Shape 4"/>
          <p:cNvSpPr/>
          <p:nvPr/>
        </p:nvSpPr>
        <p:spPr>
          <a:xfrm>
            <a:off x="1371600" y="1417320"/>
            <a:ext cx="182880" cy="182880"/>
          </a:xfrm>
          <a:prstGeom prst="ellipse">
            <a:avLst/>
          </a:prstGeom>
          <a:solidFill>
            <a:srgbClr val="1BAF7A"/>
          </a:solidFill>
          <a:ln w="12700">
            <a:solidFill>
              <a:srgbClr val="1BAF7A"/>
            </a:solidFill>
            <a:prstDash val="solid"/>
          </a:ln>
        </p:spPr>
      </p:sp>
      <p:sp>
        <p:nvSpPr>
          <p:cNvPr id="7" name="Shape 5"/>
          <p:cNvSpPr/>
          <p:nvPr/>
        </p:nvSpPr>
        <p:spPr>
          <a:xfrm>
            <a:off x="1691640" y="1417320"/>
            <a:ext cx="182880" cy="182880"/>
          </a:xfrm>
          <a:prstGeom prst="ellipse">
            <a:avLst/>
          </a:prstGeom>
          <a:solidFill>
            <a:srgbClr val="EDA100"/>
          </a:solidFill>
          <a:ln w="12700">
            <a:solidFill>
              <a:srgbClr val="EDA100"/>
            </a:solidFill>
            <a:prstDash val="solid"/>
          </a:ln>
        </p:spPr>
      </p:sp>
      <p:sp>
        <p:nvSpPr>
          <p:cNvPr id="8" name="Shape 6"/>
          <p:cNvSpPr/>
          <p:nvPr/>
        </p:nvSpPr>
        <p:spPr>
          <a:xfrm>
            <a:off x="2011680" y="1417320"/>
            <a:ext cx="182880" cy="182880"/>
          </a:xfrm>
          <a:prstGeom prst="ellipse">
            <a:avLst/>
          </a:prstGeom>
          <a:solidFill>
            <a:srgbClr val="6250D6"/>
          </a:solidFill>
          <a:ln w="12700">
            <a:solidFill>
              <a:srgbClr val="6250D6"/>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14 hallazgos, varios por imagen y muy desbalanceados</a:t>
            </a:r>
            <a:endParaRPr lang="en-US" sz="2800" dirty="0"/>
          </a:p>
        </p:txBody>
      </p:sp>
      <p:sp>
        <p:nvSpPr>
          <p:cNvPr id="3" name="stat-0"/>
          <p:cNvSpPr/>
          <p:nvPr/>
        </p:nvSpPr>
        <p:spPr>
          <a:xfrm>
            <a:off x="548640" y="1417320"/>
            <a:ext cx="2560320" cy="1600200"/>
          </a:xfrm>
          <a:prstGeom prst="roundRect">
            <a:avLst>
              <a:gd name="adj" fmla="val 6857"/>
            </a:avLst>
          </a:prstGeom>
          <a:solidFill>
            <a:srgbClr val="EEF2F5"/>
          </a:solidFill>
          <a:ln w="12700">
            <a:solidFill>
              <a:srgbClr val="EEF2F5"/>
            </a:solidFill>
            <a:prstDash val="solid"/>
          </a:ln>
        </p:spPr>
      </p:sp>
      <p:sp>
        <p:nvSpPr>
          <p:cNvPr id="4" name="Text 2"/>
          <p:cNvSpPr txBox="1"/>
          <p:nvPr/>
        </p:nvSpPr>
        <p:spPr>
          <a:xfrm>
            <a:off x="54864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112,120</a:t>
            </a:r>
            <a:endParaRPr lang="en-US" sz="3600" dirty="0"/>
          </a:p>
        </p:txBody>
      </p:sp>
      <p:sp>
        <p:nvSpPr>
          <p:cNvPr id="5" name="Text 3"/>
          <p:cNvSpPr txBox="1"/>
          <p:nvPr/>
        </p:nvSpPr>
        <p:spPr>
          <a:xfrm>
            <a:off x="548640" y="2377440"/>
            <a:ext cx="2560320" cy="457200"/>
          </a:xfrm>
          <a:prstGeom prst="rect">
            <a:avLst/>
          </a:prstGeom>
          <a:noFill/>
          <a:ln/>
        </p:spPr>
        <p:txBody>
          <a:bodyPr wrap="square" rtlCol="0" anchor="ctr"/>
          <a:lstStyle/>
          <a:p>
            <a:pPr algn="ctr" indent="0" marL="0">
              <a:buNone/>
            </a:pPr>
            <a:r>
              <a:rPr lang="en-US" sz="1400" dirty="0">
                <a:solidFill>
                  <a:schemeClr val="tx2"/>
                </a:solidFill>
              </a:rPr>
              <a:t>radiografías frontales</a:t>
            </a:r>
            <a:endParaRPr lang="en-US" sz="1400" dirty="0"/>
          </a:p>
        </p:txBody>
      </p:sp>
      <p:sp>
        <p:nvSpPr>
          <p:cNvPr id="6" name="stat-1"/>
          <p:cNvSpPr/>
          <p:nvPr/>
        </p:nvSpPr>
        <p:spPr>
          <a:xfrm>
            <a:off x="3337560" y="1417320"/>
            <a:ext cx="2560320" cy="1600200"/>
          </a:xfrm>
          <a:prstGeom prst="roundRect">
            <a:avLst>
              <a:gd name="adj" fmla="val 6857"/>
            </a:avLst>
          </a:prstGeom>
          <a:solidFill>
            <a:srgbClr val="EEF2F5"/>
          </a:solidFill>
          <a:ln w="12700">
            <a:solidFill>
              <a:srgbClr val="EEF2F5"/>
            </a:solidFill>
            <a:prstDash val="solid"/>
          </a:ln>
        </p:spPr>
      </p:sp>
      <p:sp>
        <p:nvSpPr>
          <p:cNvPr id="7" name="Text 5"/>
          <p:cNvSpPr txBox="1"/>
          <p:nvPr/>
        </p:nvSpPr>
        <p:spPr>
          <a:xfrm>
            <a:off x="333756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30,805</a:t>
            </a:r>
            <a:endParaRPr lang="en-US" sz="3600" dirty="0"/>
          </a:p>
        </p:txBody>
      </p:sp>
      <p:sp>
        <p:nvSpPr>
          <p:cNvPr id="8" name="Text 6"/>
          <p:cNvSpPr txBox="1"/>
          <p:nvPr/>
        </p:nvSpPr>
        <p:spPr>
          <a:xfrm>
            <a:off x="3337560" y="2377440"/>
            <a:ext cx="2560320" cy="457200"/>
          </a:xfrm>
          <a:prstGeom prst="rect">
            <a:avLst/>
          </a:prstGeom>
          <a:noFill/>
          <a:ln/>
        </p:spPr>
        <p:txBody>
          <a:bodyPr wrap="square" rtlCol="0" anchor="ctr"/>
          <a:lstStyle/>
          <a:p>
            <a:pPr algn="ctr" indent="0" marL="0">
              <a:buNone/>
            </a:pPr>
            <a:r>
              <a:rPr lang="en-US" sz="1400" dirty="0">
                <a:solidFill>
                  <a:schemeClr val="tx2"/>
                </a:solidFill>
              </a:rPr>
              <a:t>pacientes</a:t>
            </a:r>
            <a:endParaRPr lang="en-US" sz="1400" dirty="0"/>
          </a:p>
        </p:txBody>
      </p:sp>
      <p:sp>
        <p:nvSpPr>
          <p:cNvPr id="9" name="stat-2"/>
          <p:cNvSpPr/>
          <p:nvPr/>
        </p:nvSpPr>
        <p:spPr>
          <a:xfrm>
            <a:off x="6126480" y="1417320"/>
            <a:ext cx="2560320" cy="1600200"/>
          </a:xfrm>
          <a:prstGeom prst="roundRect">
            <a:avLst>
              <a:gd name="adj" fmla="val 6857"/>
            </a:avLst>
          </a:prstGeom>
          <a:solidFill>
            <a:srgbClr val="EEF2F5"/>
          </a:solidFill>
          <a:ln w="12700">
            <a:solidFill>
              <a:srgbClr val="EEF2F5"/>
            </a:solidFill>
            <a:prstDash val="solid"/>
          </a:ln>
        </p:spPr>
      </p:sp>
      <p:sp>
        <p:nvSpPr>
          <p:cNvPr id="10" name="Text 8"/>
          <p:cNvSpPr txBox="1"/>
          <p:nvPr/>
        </p:nvSpPr>
        <p:spPr>
          <a:xfrm>
            <a:off x="612648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14</a:t>
            </a:r>
            <a:endParaRPr lang="en-US" sz="3600" dirty="0"/>
          </a:p>
        </p:txBody>
      </p:sp>
      <p:sp>
        <p:nvSpPr>
          <p:cNvPr id="11" name="Text 9"/>
          <p:cNvSpPr txBox="1"/>
          <p:nvPr/>
        </p:nvSpPr>
        <p:spPr>
          <a:xfrm>
            <a:off x="6126480" y="2377440"/>
            <a:ext cx="2560320" cy="457200"/>
          </a:xfrm>
          <a:prstGeom prst="rect">
            <a:avLst/>
          </a:prstGeom>
          <a:noFill/>
          <a:ln/>
        </p:spPr>
        <p:txBody>
          <a:bodyPr wrap="square" rtlCol="0" anchor="ctr"/>
          <a:lstStyle/>
          <a:p>
            <a:pPr algn="ctr" indent="0" marL="0">
              <a:buNone/>
            </a:pPr>
            <a:r>
              <a:rPr lang="en-US" sz="1400" dirty="0">
                <a:solidFill>
                  <a:schemeClr val="tx2"/>
                </a:solidFill>
              </a:rPr>
              <a:t>hallazgos (multi-etiqueta)</a:t>
            </a:r>
            <a:endParaRPr lang="en-US" sz="1400" dirty="0"/>
          </a:p>
        </p:txBody>
      </p:sp>
      <p:sp>
        <p:nvSpPr>
          <p:cNvPr id="12" name="stat-3"/>
          <p:cNvSpPr/>
          <p:nvPr/>
        </p:nvSpPr>
        <p:spPr>
          <a:xfrm>
            <a:off x="8915400" y="1417320"/>
            <a:ext cx="2560320" cy="1600200"/>
          </a:xfrm>
          <a:prstGeom prst="roundRect">
            <a:avLst>
              <a:gd name="adj" fmla="val 6857"/>
            </a:avLst>
          </a:prstGeom>
          <a:solidFill>
            <a:srgbClr val="EEF2F5"/>
          </a:solidFill>
          <a:ln w="12700">
            <a:solidFill>
              <a:srgbClr val="EEF2F5"/>
            </a:solidFill>
            <a:prstDash val="solid"/>
          </a:ln>
        </p:spPr>
      </p:sp>
      <p:sp>
        <p:nvSpPr>
          <p:cNvPr id="13" name="Text 11"/>
          <p:cNvSpPr txBox="1"/>
          <p:nvPr/>
        </p:nvSpPr>
        <p:spPr>
          <a:xfrm>
            <a:off x="891540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0.2–18%</a:t>
            </a:r>
            <a:endParaRPr lang="en-US" sz="3600" dirty="0"/>
          </a:p>
        </p:txBody>
      </p:sp>
      <p:sp>
        <p:nvSpPr>
          <p:cNvPr id="14" name="Text 12"/>
          <p:cNvSpPr txBox="1"/>
          <p:nvPr/>
        </p:nvSpPr>
        <p:spPr>
          <a:xfrm>
            <a:off x="8915400" y="2377440"/>
            <a:ext cx="2560320" cy="457200"/>
          </a:xfrm>
          <a:prstGeom prst="rect">
            <a:avLst/>
          </a:prstGeom>
          <a:noFill/>
          <a:ln/>
        </p:spPr>
        <p:txBody>
          <a:bodyPr wrap="square" rtlCol="0" anchor="ctr"/>
          <a:lstStyle/>
          <a:p>
            <a:pPr algn="ctr" indent="0" marL="0">
              <a:buNone/>
            </a:pPr>
            <a:r>
              <a:rPr lang="en-US" sz="1400" dirty="0">
                <a:solidFill>
                  <a:schemeClr val="tx2"/>
                </a:solidFill>
              </a:rPr>
              <a:t>prevalencia por hallazgo</a:t>
            </a:r>
            <a:endParaRPr lang="en-US" sz="1400" dirty="0"/>
          </a:p>
        </p:txBody>
      </p:sp>
      <p:pic>
        <p:nvPicPr>
          <p:cNvPr id="15" name="ejemplos-dataset" descr="ejemplos-dataset">    </p:cNvPr>
          <p:cNvPicPr>
            <a:picLocks noChangeAspect="1"/>
          </p:cNvPicPr>
          <p:nvPr/>
        </p:nvPicPr>
        <p:blipFill>
          <a:blip r:embed="rId1"/>
          <a:stretch>
            <a:fillRect/>
          </a:stretch>
        </p:blipFill>
        <p:spPr>
          <a:xfrm>
            <a:off x="800100" y="3246120"/>
            <a:ext cx="10561320" cy="301752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Mismo protocolo y mismo presupuesto para los cuatro modelos</a:t>
            </a:r>
            <a:endParaRPr lang="en-US" sz="2800" dirty="0"/>
          </a:p>
        </p:txBody>
      </p:sp>
      <p:sp>
        <p:nvSpPr>
          <p:cNvPr id="3" name="paso-1"/>
          <p:cNvSpPr/>
          <p:nvPr/>
        </p:nvSpPr>
        <p:spPr>
          <a:xfrm>
            <a:off x="548640" y="1371600"/>
            <a:ext cx="548640" cy="548640"/>
          </a:xfrm>
          <a:prstGeom prst="ellipse">
            <a:avLst/>
          </a:prstGeom>
          <a:solidFill>
            <a:srgbClr val="1B2430"/>
          </a:solidFill>
          <a:ln w="12700">
            <a:solidFill>
              <a:srgbClr val="1B2430"/>
            </a:solidFill>
            <a:prstDash val="solid"/>
          </a:ln>
        </p:spPr>
      </p:sp>
      <p:sp>
        <p:nvSpPr>
          <p:cNvPr id="4" name="Text 2"/>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80160" y="128016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Datos</a:t>
            </a:r>
            <a:endParaRPr lang="en-US" sz="1800" dirty="0"/>
          </a:p>
          <a:p>
            <a:pPr indent="0" marL="0">
              <a:buNone/>
            </a:pPr>
            <a:r>
              <a:rPr lang="en-US" sz="1400" dirty="0">
                <a:solidFill>
                  <a:schemeClr val="tx2"/>
                </a:solidFill>
              </a:rPr>
              <a:t>12,000 imágenes al azar; split por paciente 70/15/15 (8,400 de entrenamiento)</a:t>
            </a:r>
            <a:endParaRPr lang="en-US" sz="1800" dirty="0"/>
          </a:p>
        </p:txBody>
      </p:sp>
      <p:sp>
        <p:nvSpPr>
          <p:cNvPr id="6" name="paso-2"/>
          <p:cNvSpPr/>
          <p:nvPr/>
        </p:nvSpPr>
        <p:spPr>
          <a:xfrm>
            <a:off x="548640" y="2560320"/>
            <a:ext cx="548640" cy="548640"/>
          </a:xfrm>
          <a:prstGeom prst="ellipse">
            <a:avLst/>
          </a:prstGeom>
          <a:solidFill>
            <a:srgbClr val="1B2430"/>
          </a:solidFill>
          <a:ln w="12700">
            <a:solidFill>
              <a:srgbClr val="1B2430"/>
            </a:solidFill>
            <a:prstDash val="solid"/>
          </a:ln>
        </p:spPr>
      </p:sp>
      <p:sp>
        <p:nvSpPr>
          <p:cNvPr id="7" name="Text 5"/>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280160" y="246888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Entrada</a:t>
            </a:r>
            <a:endParaRPr lang="en-US" sz="1800" dirty="0"/>
          </a:p>
          <a:p>
            <a:pPr indent="0" marL="0">
              <a:buNone/>
            </a:pPr>
            <a:r>
              <a:rPr lang="en-US" sz="1400" dirty="0">
                <a:solidFill>
                  <a:schemeClr val="tx2"/>
                </a:solidFill>
              </a:rPr>
              <a:t>1024 → 224 px, normalización ImageNet, volteo horizontal; desbalance tratado con AUROC y umbral por clase</a:t>
            </a:r>
            <a:endParaRPr lang="en-US" sz="1800" dirty="0"/>
          </a:p>
        </p:txBody>
      </p:sp>
      <p:sp>
        <p:nvSpPr>
          <p:cNvPr id="9" name="paso-3"/>
          <p:cNvSpPr/>
          <p:nvPr/>
        </p:nvSpPr>
        <p:spPr>
          <a:xfrm>
            <a:off x="548640" y="3749040"/>
            <a:ext cx="548640" cy="548640"/>
          </a:xfrm>
          <a:prstGeom prst="ellipse">
            <a:avLst/>
          </a:prstGeom>
          <a:solidFill>
            <a:srgbClr val="1B2430"/>
          </a:solidFill>
          <a:ln w="12700">
            <a:solidFill>
              <a:srgbClr val="1B2430"/>
            </a:solidFill>
            <a:prstDash val="solid"/>
          </a:ln>
        </p:spPr>
      </p:sp>
      <p:sp>
        <p:nvSpPr>
          <p:cNvPr id="10" name="Text 8"/>
          <p:cNvSpPr txBox="1"/>
          <p:nvPr/>
        </p:nvSpPr>
        <p:spPr>
          <a:xfrm>
            <a:off x="548640" y="3749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280160" y="365760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Fine-tuning parcial</a:t>
            </a:r>
            <a:endParaRPr lang="en-US" sz="1800" dirty="0"/>
          </a:p>
          <a:p>
            <a:pPr indent="0" marL="0">
              <a:buNone/>
            </a:pPr>
            <a:r>
              <a:rPr lang="en-US" sz="1400" dirty="0">
                <a:solidFill>
                  <a:schemeClr val="tx2"/>
                </a:solidFill>
              </a:rPr>
              <a:t>Desde ImageNet se ajustan el último bloque + capa de 14 salidas; el resto, congelado. Adam 1e-4, 5 épocas, mejor época en validación</a:t>
            </a:r>
            <a:endParaRPr lang="en-US" sz="1800" dirty="0"/>
          </a:p>
        </p:txBody>
      </p:sp>
      <p:sp>
        <p:nvSpPr>
          <p:cNvPr id="12" name="paso-4"/>
          <p:cNvSpPr/>
          <p:nvPr/>
        </p:nvSpPr>
        <p:spPr>
          <a:xfrm>
            <a:off x="548640" y="4937760"/>
            <a:ext cx="548640" cy="548640"/>
          </a:xfrm>
          <a:prstGeom prst="ellipse">
            <a:avLst/>
          </a:prstGeom>
          <a:solidFill>
            <a:srgbClr val="1B2430"/>
          </a:solidFill>
          <a:ln w="12700">
            <a:solidFill>
              <a:srgbClr val="1B2430"/>
            </a:solidFill>
            <a:prstDash val="solid"/>
          </a:ln>
        </p:spPr>
      </p:sp>
      <p:sp>
        <p:nvSpPr>
          <p:cNvPr id="13" name="Text 11"/>
          <p:cNvSpPr txBox="1"/>
          <p:nvPr/>
        </p:nvSpPr>
        <p:spPr>
          <a:xfrm>
            <a:off x="548640" y="4937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280160" y="484632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Evaluación</a:t>
            </a:r>
            <a:endParaRPr lang="en-US" sz="1800" dirty="0"/>
          </a:p>
          <a:p>
            <a:pPr indent="0" marL="0">
              <a:buNone/>
            </a:pPr>
            <a:r>
              <a:rPr lang="en-US" sz="1400" dirty="0">
                <a:solidFill>
                  <a:schemeClr val="tx2"/>
                </a:solidFill>
              </a:rPr>
              <a:t>AUROC, F1 (umbral elegido en validación), exactitud, IC 95% por bootstrap y comparación pareada</a:t>
            </a:r>
            <a:endParaRPr lang="en-US" sz="1800" dirty="0"/>
          </a:p>
        </p:txBody>
      </p:sp>
      <p:sp>
        <p:nvSpPr>
          <p:cNvPr id="15" name="modelo-densenet121"/>
          <p:cNvSpPr/>
          <p:nvPr/>
        </p:nvSpPr>
        <p:spPr>
          <a:xfrm>
            <a:off x="6949440" y="1325880"/>
            <a:ext cx="4663440" cy="1051560"/>
          </a:xfrm>
          <a:prstGeom prst="roundRect">
            <a:avLst>
              <a:gd name="adj" fmla="val 10435"/>
            </a:avLst>
          </a:prstGeom>
          <a:solidFill>
            <a:srgbClr val="EEF2F5"/>
          </a:solidFill>
          <a:ln w="12700">
            <a:solidFill>
              <a:srgbClr val="EEF2F5"/>
            </a:solidFill>
            <a:prstDash val="solid"/>
          </a:ln>
        </p:spPr>
      </p:sp>
      <p:sp>
        <p:nvSpPr>
          <p:cNvPr id="16" name="Shape 14"/>
          <p:cNvSpPr/>
          <p:nvPr/>
        </p:nvSpPr>
        <p:spPr>
          <a:xfrm>
            <a:off x="7178040" y="1527048"/>
            <a:ext cx="256032" cy="256032"/>
          </a:xfrm>
          <a:prstGeom prst="ellipse">
            <a:avLst/>
          </a:prstGeom>
          <a:solidFill>
            <a:srgbClr val="2A78D6"/>
          </a:solidFill>
          <a:ln w="12700">
            <a:solidFill>
              <a:srgbClr val="2A78D6"/>
            </a:solidFill>
            <a:prstDash val="solid"/>
          </a:ln>
        </p:spPr>
      </p:sp>
      <p:sp>
        <p:nvSpPr>
          <p:cNvPr id="17" name="Text 15"/>
          <p:cNvSpPr txBox="1"/>
          <p:nvPr/>
        </p:nvSpPr>
        <p:spPr>
          <a:xfrm>
            <a:off x="7589520" y="1417320"/>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DenseNet121</a:t>
            </a:r>
            <a:endParaRPr lang="en-US" sz="1800" dirty="0"/>
          </a:p>
        </p:txBody>
      </p:sp>
      <p:sp>
        <p:nvSpPr>
          <p:cNvPr id="18" name="Text 16"/>
          <p:cNvSpPr txBox="1"/>
          <p:nvPr/>
        </p:nvSpPr>
        <p:spPr>
          <a:xfrm>
            <a:off x="7589520" y="1828800"/>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densas (base de CheXNet) · 7.0M parám., se ajusta el 31% (2.2M)</a:t>
            </a:r>
            <a:endParaRPr lang="en-US" sz="1300" dirty="0"/>
          </a:p>
        </p:txBody>
      </p:sp>
      <p:sp>
        <p:nvSpPr>
          <p:cNvPr id="19" name="modelo-resnet18"/>
          <p:cNvSpPr/>
          <p:nvPr/>
        </p:nvSpPr>
        <p:spPr>
          <a:xfrm>
            <a:off x="6949440" y="2496312"/>
            <a:ext cx="4663440" cy="1051560"/>
          </a:xfrm>
          <a:prstGeom prst="roundRect">
            <a:avLst>
              <a:gd name="adj" fmla="val 10435"/>
            </a:avLst>
          </a:prstGeom>
          <a:solidFill>
            <a:srgbClr val="EEF2F5"/>
          </a:solidFill>
          <a:ln w="12700">
            <a:solidFill>
              <a:srgbClr val="EEF2F5"/>
            </a:solidFill>
            <a:prstDash val="solid"/>
          </a:ln>
        </p:spPr>
      </p:sp>
      <p:sp>
        <p:nvSpPr>
          <p:cNvPr id="20" name="Shape 18"/>
          <p:cNvSpPr/>
          <p:nvPr/>
        </p:nvSpPr>
        <p:spPr>
          <a:xfrm>
            <a:off x="7178040" y="2697480"/>
            <a:ext cx="256032" cy="256032"/>
          </a:xfrm>
          <a:prstGeom prst="ellipse">
            <a:avLst/>
          </a:prstGeom>
          <a:solidFill>
            <a:srgbClr val="EB6834"/>
          </a:solidFill>
          <a:ln w="12700">
            <a:solidFill>
              <a:srgbClr val="EB6834"/>
            </a:solidFill>
            <a:prstDash val="solid"/>
          </a:ln>
        </p:spPr>
      </p:sp>
      <p:sp>
        <p:nvSpPr>
          <p:cNvPr id="21" name="Text 19"/>
          <p:cNvSpPr txBox="1"/>
          <p:nvPr/>
        </p:nvSpPr>
        <p:spPr>
          <a:xfrm>
            <a:off x="7589520" y="2587752"/>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ResNet18</a:t>
            </a:r>
            <a:endParaRPr lang="en-US" sz="1800" dirty="0"/>
          </a:p>
        </p:txBody>
      </p:sp>
      <p:sp>
        <p:nvSpPr>
          <p:cNvPr id="22" name="Text 20"/>
          <p:cNvSpPr txBox="1"/>
          <p:nvPr/>
        </p:nvSpPr>
        <p:spPr>
          <a:xfrm>
            <a:off x="7589520" y="2999232"/>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residuales · 11.2M parám., se ajusta el 75% (8.4M)</a:t>
            </a:r>
            <a:endParaRPr lang="en-US" sz="1300" dirty="0"/>
          </a:p>
        </p:txBody>
      </p:sp>
      <p:sp>
        <p:nvSpPr>
          <p:cNvPr id="23" name="modelo-vit_b_16"/>
          <p:cNvSpPr/>
          <p:nvPr/>
        </p:nvSpPr>
        <p:spPr>
          <a:xfrm>
            <a:off x="6949440" y="3666744"/>
            <a:ext cx="4663440" cy="1051560"/>
          </a:xfrm>
          <a:prstGeom prst="roundRect">
            <a:avLst>
              <a:gd name="adj" fmla="val 10435"/>
            </a:avLst>
          </a:prstGeom>
          <a:solidFill>
            <a:srgbClr val="EEF2F5"/>
          </a:solidFill>
          <a:ln w="12700">
            <a:solidFill>
              <a:srgbClr val="EEF2F5"/>
            </a:solidFill>
            <a:prstDash val="solid"/>
          </a:ln>
        </p:spPr>
      </p:sp>
      <p:sp>
        <p:nvSpPr>
          <p:cNvPr id="24" name="Shape 22"/>
          <p:cNvSpPr/>
          <p:nvPr/>
        </p:nvSpPr>
        <p:spPr>
          <a:xfrm>
            <a:off x="7178040" y="3867912"/>
            <a:ext cx="256032" cy="256032"/>
          </a:xfrm>
          <a:prstGeom prst="ellipse">
            <a:avLst/>
          </a:prstGeom>
          <a:solidFill>
            <a:srgbClr val="1BAF7A"/>
          </a:solidFill>
          <a:ln w="12700">
            <a:solidFill>
              <a:srgbClr val="1BAF7A"/>
            </a:solidFill>
            <a:prstDash val="solid"/>
          </a:ln>
        </p:spPr>
      </p:sp>
      <p:sp>
        <p:nvSpPr>
          <p:cNvPr id="25" name="Text 23"/>
          <p:cNvSpPr txBox="1"/>
          <p:nvPr/>
        </p:nvSpPr>
        <p:spPr>
          <a:xfrm>
            <a:off x="7589520" y="3758184"/>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ViT-B/16</a:t>
            </a:r>
            <a:endParaRPr lang="en-US" sz="1800" dirty="0"/>
          </a:p>
        </p:txBody>
      </p:sp>
      <p:sp>
        <p:nvSpPr>
          <p:cNvPr id="26" name="Text 24"/>
          <p:cNvSpPr txBox="1"/>
          <p:nvPr/>
        </p:nvSpPr>
        <p:spPr>
          <a:xfrm>
            <a:off x="7589520" y="4169664"/>
            <a:ext cx="3886200" cy="457200"/>
          </a:xfrm>
          <a:prstGeom prst="rect">
            <a:avLst/>
          </a:prstGeom>
          <a:noFill/>
          <a:ln/>
        </p:spPr>
        <p:txBody>
          <a:bodyPr wrap="square" lIns="0" tIns="0" rIns="0" bIns="0" rtlCol="0" anchor="t"/>
          <a:lstStyle/>
          <a:p>
            <a:pPr indent="0" marL="0">
              <a:buNone/>
            </a:pPr>
            <a:r>
              <a:rPr lang="en-US" sz="1300" dirty="0">
                <a:solidFill>
                  <a:schemeClr val="tx2"/>
                </a:solidFill>
              </a:rPr>
              <a:t>Transformer · 12 bloques de auto-atención · 85.8M parám., se ajusta el 8% (7.1M)</a:t>
            </a:r>
            <a:endParaRPr lang="en-US" sz="1300" dirty="0"/>
          </a:p>
        </p:txBody>
      </p:sp>
      <p:sp>
        <p:nvSpPr>
          <p:cNvPr id="27" name="modelo-maxvit_t"/>
          <p:cNvSpPr/>
          <p:nvPr/>
        </p:nvSpPr>
        <p:spPr>
          <a:xfrm>
            <a:off x="6949440" y="4837176"/>
            <a:ext cx="4663440" cy="1051560"/>
          </a:xfrm>
          <a:prstGeom prst="roundRect">
            <a:avLst>
              <a:gd name="adj" fmla="val 10435"/>
            </a:avLst>
          </a:prstGeom>
          <a:solidFill>
            <a:srgbClr val="EEF2F5"/>
          </a:solidFill>
          <a:ln w="12700">
            <a:solidFill>
              <a:srgbClr val="EEF2F5"/>
            </a:solidFill>
            <a:prstDash val="solid"/>
          </a:ln>
        </p:spPr>
      </p:sp>
      <p:sp>
        <p:nvSpPr>
          <p:cNvPr id="28" name="Shape 26"/>
          <p:cNvSpPr/>
          <p:nvPr/>
        </p:nvSpPr>
        <p:spPr>
          <a:xfrm>
            <a:off x="7178040" y="5038344"/>
            <a:ext cx="256032" cy="256032"/>
          </a:xfrm>
          <a:prstGeom prst="ellipse">
            <a:avLst/>
          </a:prstGeom>
          <a:solidFill>
            <a:srgbClr val="EDA100"/>
          </a:solidFill>
          <a:ln w="12700">
            <a:solidFill>
              <a:srgbClr val="EDA100"/>
            </a:solidFill>
            <a:prstDash val="solid"/>
          </a:ln>
        </p:spPr>
      </p:sp>
      <p:sp>
        <p:nvSpPr>
          <p:cNvPr id="29" name="Text 27"/>
          <p:cNvSpPr txBox="1"/>
          <p:nvPr/>
        </p:nvSpPr>
        <p:spPr>
          <a:xfrm>
            <a:off x="7589520" y="4928616"/>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MaxViT-T</a:t>
            </a:r>
            <a:endParaRPr lang="en-US" sz="1800" dirty="0"/>
          </a:p>
        </p:txBody>
      </p:sp>
      <p:sp>
        <p:nvSpPr>
          <p:cNvPr id="30" name="Text 28"/>
          <p:cNvSpPr txBox="1"/>
          <p:nvPr/>
        </p:nvSpPr>
        <p:spPr>
          <a:xfrm>
            <a:off x="7589520" y="5340096"/>
            <a:ext cx="3886200" cy="457200"/>
          </a:xfrm>
          <a:prstGeom prst="rect">
            <a:avLst/>
          </a:prstGeom>
          <a:noFill/>
          <a:ln/>
        </p:spPr>
        <p:txBody>
          <a:bodyPr wrap="square" lIns="0" tIns="0" rIns="0" bIns="0" rtlCol="0" anchor="t"/>
          <a:lstStyle/>
          <a:p>
            <a:pPr indent="0" marL="0">
              <a:buNone/>
            </a:pPr>
            <a:r>
              <a:rPr lang="en-US" sz="1300" dirty="0">
                <a:solidFill>
                  <a:schemeClr val="tx2"/>
                </a:solidFill>
              </a:rPr>
              <a:t>Híbrido · convoluciones + atención local y global · 30.4M parám., se ajusta el 30% (9.2M)</a:t>
            </a:r>
            <a:endParaRPr lang="en-US" sz="1300" dirty="0"/>
          </a:p>
        </p:txBody>
      </p:sp>
      <p:sp>
        <p:nvSpPr>
          <p:cNvPr id="31" name="Text 29"/>
          <p:cNvSpPr txBox="1"/>
          <p:nvPr/>
        </p:nvSpPr>
        <p:spPr>
          <a:xfrm>
            <a:off x="6949440" y="6035040"/>
            <a:ext cx="4663440" cy="320040"/>
          </a:xfrm>
          <a:prstGeom prst="rect">
            <a:avLst/>
          </a:prstGeom>
          <a:noFill/>
          <a:ln/>
        </p:spPr>
        <p:txBody>
          <a:bodyPr wrap="square" lIns="0" tIns="0" rIns="0" bIns="0" rtlCol="0" anchor="ctr"/>
          <a:lstStyle/>
          <a:p>
            <a:pPr indent="0" marL="0">
              <a:buNone/>
            </a:pPr>
            <a:r>
              <a:rPr lang="en-US" sz="1300" i="1" dirty="0">
                <a:solidFill>
                  <a:schemeClr val="accent5"/>
                </a:solidFill>
              </a:rPr>
              <a:t>+ Ensemble: promedio de las probabilidades de los cuatro, sin entrenamiento adicional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Ninguna arquitectura domina; el ensemble mejora a todas</a:t>
            </a:r>
            <a:endParaRPr lang="en-US" sz="2800" dirty="0"/>
          </a:p>
        </p:txBody>
      </p:sp>
      <p:graphicFrame>
        <p:nvGraphicFramePr>
          <p:cNvPr id="5" name="tabla-resultados"/>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3017520"/>
                <a:gridCol w="1417320"/>
                <a:gridCol w="1417320"/>
                <a:gridCol w="1417320"/>
                <a:gridCol w="1600200"/>
              </a:tblGrid>
              <a:tr h="438912">
                <a:tc>
                  <a:txBody>
                    <a:bodyPr/>
                    <a:lstStyle/>
                    <a:p>
                      <a:pPr algn="ctr" indent="0" marL="0">
                        <a:buNone/>
                      </a:pPr>
                      <a:r>
                        <a:rPr lang="en-US" sz="1500" b="1" dirty="0">
                          <a:solidFill>
                            <a:srgbClr val="FFFFFF"/>
                          </a:solidFill>
                        </a:rPr>
                        <a:t>Modelo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macro [IC 95%]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macro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micro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Exactitud</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Mejor época</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r>
              <a:tr h="438912">
                <a:tc>
                  <a:txBody>
                    <a:bodyPr/>
                    <a:lstStyle/>
                    <a:p>
                      <a:pPr indent="0" marL="0">
                        <a:buNone/>
                      </a:pPr>
                      <a:r>
                        <a:rPr lang="en-US" sz="1500" dirty="0">
                          <a:solidFill>
                            <a:srgbClr val="2A78D6"/>
                          </a:solidFill>
                        </a:rPr>
                        <a:t>●  </a:t>
                      </a:r>
                      <a:pPr indent="0" marL="0">
                        <a:buNone/>
                      </a:pPr>
                      <a:r>
                        <a:rPr lang="en-US" sz="1500" b="1" dirty="0">
                          <a:solidFill>
                            <a:srgbClr val="1B2430"/>
                          </a:solidFill>
                        </a:rPr>
                        <a:t>DenseNet121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0.745  [0.721, 0.768]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0.188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B6834"/>
                          </a:solidFill>
                        </a:rPr>
                        <a:t>●  </a:t>
                      </a:r>
                      <a:pPr indent="0" marL="0">
                        <a:buNone/>
                      </a:pPr>
                      <a:r>
                        <a:rPr lang="en-US" sz="1500" b="1" dirty="0">
                          <a:solidFill>
                            <a:srgbClr val="1B2430"/>
                          </a:solidFill>
                        </a:rPr>
                        <a:t>ResNet18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0.749  [0.725, 0.771]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BAF7A"/>
                          </a:solidFill>
                        </a:rPr>
                        <a:t>●  </a:t>
                      </a:r>
                      <a:pPr indent="0" marL="0">
                        <a:buNone/>
                      </a:pPr>
                      <a:r>
                        <a:rPr lang="en-US" sz="1500" b="1" dirty="0">
                          <a:solidFill>
                            <a:srgbClr val="1B2430"/>
                          </a:solidFill>
                        </a:rPr>
                        <a:t>ViT-B/16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0.742  [0.717, 0.766]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0.274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DA100"/>
                          </a:solidFill>
                        </a:rPr>
                        <a:t>●  </a:t>
                      </a:r>
                      <a:pPr indent="0" marL="0">
                        <a:buNone/>
                      </a:pPr>
                      <a:r>
                        <a:rPr lang="en-US" sz="1500" b="1" dirty="0">
                          <a:solidFill>
                            <a:srgbClr val="1B2430"/>
                          </a:solidFill>
                        </a:rPr>
                        <a:t>MaxViT-T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0.733  [0.705, 0.759]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0.172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6250D6"/>
                          </a:solidFill>
                        </a:rPr>
                        <a:t>●  </a:t>
                      </a:r>
                      <a:pPr indent="0" marL="0">
                        <a:buNone/>
                      </a:pPr>
                      <a:r>
                        <a:rPr lang="en-US" sz="1500" b="1" dirty="0">
                          <a:solidFill>
                            <a:srgbClr val="1B2430"/>
                          </a:solidFill>
                        </a:rPr>
                        <a:t>Ensemble</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0.767  [0.740, 0.791]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0.204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0.310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r>
            </a:tbl>
          </a:graphicData>
        </a:graphic>
      </p:graphicFrame>
      <p:sp>
        <p:nvSpPr>
          <p:cNvPr id="4" name="hallazgo-0"/>
          <p:cNvSpPr/>
          <p:nvPr/>
        </p:nvSpPr>
        <p:spPr>
          <a:xfrm>
            <a:off x="548640" y="4206240"/>
            <a:ext cx="3520440" cy="1417320"/>
          </a:xfrm>
          <a:prstGeom prst="roundRect">
            <a:avLst>
              <a:gd name="adj" fmla="val 7742"/>
            </a:avLst>
          </a:prstGeom>
          <a:solidFill>
            <a:srgbClr val="EEF2F5"/>
          </a:solidFill>
          <a:ln w="12700">
            <a:solidFill>
              <a:srgbClr val="EEF2F5"/>
            </a:solidFill>
            <a:prstDash val="solid"/>
          </a:ln>
        </p:spPr>
      </p:sp>
      <p:sp>
        <p:nvSpPr>
          <p:cNvPr id="5" name="Text 2"/>
          <p:cNvSpPr txBox="1"/>
          <p:nvPr/>
        </p:nvSpPr>
        <p:spPr>
          <a:xfrm>
            <a:off x="77724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Entre modelos individuales</a:t>
            </a:r>
            <a:endParaRPr lang="en-US" sz="1600" dirty="0"/>
          </a:p>
          <a:p>
            <a:pPr indent="0" marL="0">
              <a:spcAft>
                <a:spcPts val="600"/>
              </a:spcAft>
              <a:buNone/>
            </a:pPr>
            <a:r>
              <a:rPr lang="en-US" sz="1400" dirty="0">
                <a:solidFill>
                  <a:schemeClr val="tx2"/>
                </a:solidFill>
              </a:rPr>
              <a:t>Ninguna diferencia de AUROC es significativa</a:t>
            </a:r>
            <a:endParaRPr lang="en-US" sz="1600" dirty="0"/>
          </a:p>
        </p:txBody>
      </p:sp>
      <p:sp>
        <p:nvSpPr>
          <p:cNvPr id="6" name="hallazgo-1"/>
          <p:cNvSpPr/>
          <p:nvPr/>
        </p:nvSpPr>
        <p:spPr>
          <a:xfrm>
            <a:off x="4297680" y="4206240"/>
            <a:ext cx="3520440" cy="1417320"/>
          </a:xfrm>
          <a:prstGeom prst="roundRect">
            <a:avLst>
              <a:gd name="adj" fmla="val 7742"/>
            </a:avLst>
          </a:prstGeom>
          <a:solidFill>
            <a:srgbClr val="EEF2F5"/>
          </a:solidFill>
          <a:ln w="12700">
            <a:solidFill>
              <a:srgbClr val="EEF2F5"/>
            </a:solidFill>
            <a:prstDash val="solid"/>
          </a:ln>
        </p:spPr>
      </p:sp>
      <p:sp>
        <p:nvSpPr>
          <p:cNvPr id="7" name="Text 4"/>
          <p:cNvSpPr txBox="1"/>
          <p:nvPr/>
        </p:nvSpPr>
        <p:spPr>
          <a:xfrm>
            <a:off x="452628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Ensemble vs. cada modelo</a:t>
            </a:r>
            <a:endParaRPr lang="en-US" sz="1600" dirty="0"/>
          </a:p>
          <a:p>
            <a:pPr indent="0" marL="0">
              <a:spcAft>
                <a:spcPts val="600"/>
              </a:spcAft>
              <a:buNone/>
            </a:pPr>
            <a:r>
              <a:rPr lang="en-US" sz="1400" dirty="0">
                <a:solidFill>
                  <a:schemeClr val="tx2"/>
                </a:solidFill>
              </a:rPr>
              <a:t>+0.018 a +0.034 de AUROC, todas significativas</a:t>
            </a:r>
            <a:endParaRPr lang="en-US" sz="1600" dirty="0"/>
          </a:p>
        </p:txBody>
      </p:sp>
      <p:sp>
        <p:nvSpPr>
          <p:cNvPr id="8" name="hallazgo-2"/>
          <p:cNvSpPr/>
          <p:nvPr/>
        </p:nvSpPr>
        <p:spPr>
          <a:xfrm>
            <a:off x="8046720" y="4206240"/>
            <a:ext cx="3520440" cy="1417320"/>
          </a:xfrm>
          <a:prstGeom prst="roundRect">
            <a:avLst>
              <a:gd name="adj" fmla="val 7742"/>
            </a:avLst>
          </a:prstGeom>
          <a:solidFill>
            <a:srgbClr val="EEF2F5"/>
          </a:solidFill>
          <a:ln w="12700">
            <a:solidFill>
              <a:srgbClr val="EEF2F5"/>
            </a:solidFill>
            <a:prstDash val="solid"/>
          </a:ln>
        </p:spPr>
      </p:sp>
      <p:sp>
        <p:nvSpPr>
          <p:cNvPr id="9" name="Text 6"/>
          <p:cNvSpPr txBox="1"/>
          <p:nvPr/>
        </p:nvSpPr>
        <p:spPr>
          <a:xfrm>
            <a:off x="827532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La exactitud no distingue</a:t>
            </a:r>
            <a:endParaRPr lang="en-US" sz="1600" dirty="0"/>
          </a:p>
          <a:p>
            <a:pPr indent="0" marL="0">
              <a:spcAft>
                <a:spcPts val="600"/>
              </a:spcAft>
              <a:buNone/>
            </a:pPr>
            <a:r>
              <a:rPr lang="en-US" sz="1400" dirty="0">
                <a:solidFill>
                  <a:schemeClr val="tx2"/>
                </a:solidFill>
              </a:rPr>
              <a:t>Todos ≈ 0.950, igual que predecir siempre "sin hallazgo"</a:t>
            </a:r>
            <a:endParaRPr lang="en-US" sz="1600" dirty="0"/>
          </a:p>
        </p:txBody>
      </p:sp>
      <p:sp>
        <p:nvSpPr>
          <p:cNvPr id="10" name="Text 7"/>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300" i="1" dirty="0">
                <a:solidFill>
                  <a:schemeClr val="accent5"/>
                </a:solidFill>
              </a:rPr>
              <a:t>Una repetición independiente del experimento cambió el orden de los modelos individuales (hasta 0.010 de AUROC).</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El ensemble mejora a todos; el híbrido no convergió</a:t>
            </a:r>
            <a:endParaRPr lang="en-US" sz="2800" dirty="0"/>
          </a:p>
        </p:txBody>
      </p:sp>
      <p:sp>
        <p:nvSpPr>
          <p:cNvPr id="3" name="stat-ensemble"/>
          <p:cNvSpPr/>
          <p:nvPr/>
        </p:nvSpPr>
        <p:spPr>
          <a:xfrm>
            <a:off x="548640" y="1371600"/>
            <a:ext cx="4937760" cy="2194560"/>
          </a:xfrm>
          <a:prstGeom prst="roundRect">
            <a:avLst>
              <a:gd name="adj" fmla="val 5000"/>
            </a:avLst>
          </a:prstGeom>
          <a:solidFill>
            <a:srgbClr val="EEF2F5"/>
          </a:solidFill>
          <a:ln w="12700">
            <a:solidFill>
              <a:srgbClr val="EEF2F5"/>
            </a:solidFill>
            <a:prstDash val="solid"/>
          </a:ln>
        </p:spPr>
      </p:sp>
      <p:sp>
        <p:nvSpPr>
          <p:cNvPr id="4" name="Shape 2"/>
          <p:cNvSpPr/>
          <p:nvPr/>
        </p:nvSpPr>
        <p:spPr>
          <a:xfrm>
            <a:off x="777240" y="1600200"/>
            <a:ext cx="256032" cy="256032"/>
          </a:xfrm>
          <a:prstGeom prst="ellipse">
            <a:avLst/>
          </a:prstGeom>
          <a:solidFill>
            <a:srgbClr val="6250D6"/>
          </a:solidFill>
          <a:ln w="12700">
            <a:solidFill>
              <a:srgbClr val="6250D6"/>
            </a:solidFill>
            <a:prstDash val="solid"/>
          </a:ln>
        </p:spPr>
      </p:sp>
      <p:sp>
        <p:nvSpPr>
          <p:cNvPr id="5" name="Text 3"/>
          <p:cNvSpPr txBox="1"/>
          <p:nvPr/>
        </p:nvSpPr>
        <p:spPr>
          <a:xfrm>
            <a:off x="1143000" y="153619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Ensemble de los 4 modelos</a:t>
            </a:r>
            <a:endParaRPr lang="en-US" sz="1800" dirty="0"/>
          </a:p>
        </p:txBody>
      </p:sp>
      <p:sp>
        <p:nvSpPr>
          <p:cNvPr id="6" name="Text 4"/>
          <p:cNvSpPr txBox="1"/>
          <p:nvPr/>
        </p:nvSpPr>
        <p:spPr>
          <a:xfrm>
            <a:off x="777240" y="1965960"/>
            <a:ext cx="2377440" cy="868680"/>
          </a:xfrm>
          <a:prstGeom prst="rect">
            <a:avLst/>
          </a:prstGeom>
          <a:noFill/>
          <a:ln/>
        </p:spPr>
        <p:txBody>
          <a:bodyPr wrap="square" lIns="0" tIns="0" rIns="0" bIns="0" rtlCol="0" anchor="ctr"/>
          <a:lstStyle/>
          <a:p>
            <a:pPr indent="0" marL="0">
              <a:buNone/>
            </a:pPr>
            <a:r>
              <a:rPr lang="en-US" sz="4800" b="1" dirty="0">
                <a:solidFill>
                  <a:srgbClr val="6250D6"/>
                </a:solidFill>
                <a:latin typeface="Cambria" pitchFamily="34" charset="0"/>
                <a:ea typeface="Cambria" pitchFamily="34" charset="-122"/>
                <a:cs typeface="Cambria" pitchFamily="34" charset="-120"/>
              </a:rPr>
              <a:t>0.767</a:t>
            </a:r>
            <a:endParaRPr lang="en-US" sz="4800" dirty="0"/>
          </a:p>
        </p:txBody>
      </p:sp>
      <p:sp>
        <p:nvSpPr>
          <p:cNvPr id="7" name="Text 5"/>
          <p:cNvSpPr txBox="1"/>
          <p:nvPr/>
        </p:nvSpPr>
        <p:spPr>
          <a:xfrm>
            <a:off x="3108960" y="205740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+0.018 a +0.034 sobre cada modelo</a:t>
            </a:r>
            <a:endParaRPr lang="en-US" sz="1400" dirty="0"/>
          </a:p>
        </p:txBody>
      </p:sp>
      <p:sp>
        <p:nvSpPr>
          <p:cNvPr id="8" name="Text 6"/>
          <p:cNvSpPr txBox="1"/>
          <p:nvPr/>
        </p:nvSpPr>
        <p:spPr>
          <a:xfrm>
            <a:off x="777240" y="2880360"/>
            <a:ext cx="4572000" cy="594360"/>
          </a:xfrm>
          <a:prstGeom prst="rect">
            <a:avLst/>
          </a:prstGeom>
          <a:noFill/>
          <a:ln/>
        </p:spPr>
        <p:txBody>
          <a:bodyPr wrap="square" lIns="0" tIns="0" rIns="0" bIns="0" rtlCol="0" anchor="ctr"/>
          <a:lstStyle/>
          <a:p>
            <a:pPr indent="0" marL="0">
              <a:buNone/>
            </a:pPr>
            <a:r>
              <a:rPr lang="en-US" sz="1300" dirty="0">
                <a:solidFill>
                  <a:schemeClr val="tx2"/>
                </a:solidFill>
              </a:rPr>
              <a:t>Errores distintos entre CNN, Transformer e híbrido se compensan. Costo: correr los 4 (≈153 img/s, 134M parám.)</a:t>
            </a:r>
            <a:endParaRPr lang="en-US" sz="1300" dirty="0"/>
          </a:p>
        </p:txBody>
      </p:sp>
      <p:sp>
        <p:nvSpPr>
          <p:cNvPr id="9" name="stat-maxvit"/>
          <p:cNvSpPr/>
          <p:nvPr/>
        </p:nvSpPr>
        <p:spPr>
          <a:xfrm>
            <a:off x="548640" y="3794760"/>
            <a:ext cx="4937760" cy="2377440"/>
          </a:xfrm>
          <a:prstGeom prst="roundRect">
            <a:avLst>
              <a:gd name="adj" fmla="val 4615"/>
            </a:avLst>
          </a:prstGeom>
          <a:solidFill>
            <a:srgbClr val="EEF2F5"/>
          </a:solidFill>
          <a:ln w="12700">
            <a:solidFill>
              <a:srgbClr val="EEF2F5"/>
            </a:solidFill>
            <a:prstDash val="solid"/>
          </a:ln>
        </p:spPr>
      </p:sp>
      <p:sp>
        <p:nvSpPr>
          <p:cNvPr id="10" name="Shape 8"/>
          <p:cNvSpPr/>
          <p:nvPr/>
        </p:nvSpPr>
        <p:spPr>
          <a:xfrm>
            <a:off x="777240" y="4023360"/>
            <a:ext cx="256032" cy="256032"/>
          </a:xfrm>
          <a:prstGeom prst="ellipse">
            <a:avLst/>
          </a:prstGeom>
          <a:solidFill>
            <a:srgbClr val="EDA100"/>
          </a:solidFill>
          <a:ln w="12700">
            <a:solidFill>
              <a:srgbClr val="EDA100"/>
            </a:solidFill>
            <a:prstDash val="solid"/>
          </a:ln>
        </p:spPr>
      </p:sp>
      <p:sp>
        <p:nvSpPr>
          <p:cNvPr id="11" name="Text 9"/>
          <p:cNvSpPr txBox="1"/>
          <p:nvPr/>
        </p:nvSpPr>
        <p:spPr>
          <a:xfrm>
            <a:off x="1143000" y="395935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MaxViT-T (híbrido)</a:t>
            </a:r>
            <a:endParaRPr lang="en-US" sz="1800" dirty="0"/>
          </a:p>
        </p:txBody>
      </p:sp>
      <p:sp>
        <p:nvSpPr>
          <p:cNvPr id="12" name="Text 10"/>
          <p:cNvSpPr txBox="1"/>
          <p:nvPr/>
        </p:nvSpPr>
        <p:spPr>
          <a:xfrm>
            <a:off x="777240" y="4389120"/>
            <a:ext cx="2377440" cy="86868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0.733</a:t>
            </a:r>
            <a:endParaRPr lang="en-US" sz="4800" dirty="0"/>
          </a:p>
        </p:txBody>
      </p:sp>
      <p:sp>
        <p:nvSpPr>
          <p:cNvPr id="13" name="Text 11"/>
          <p:cNvSpPr txBox="1"/>
          <p:nvPr/>
        </p:nvSpPr>
        <p:spPr>
          <a:xfrm>
            <a:off x="3108960" y="448056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mejor época: 5 de 5</a:t>
            </a:r>
            <a:endParaRPr lang="en-US" sz="1400" dirty="0"/>
          </a:p>
        </p:txBody>
      </p:sp>
      <p:sp>
        <p:nvSpPr>
          <p:cNvPr id="14" name="Text 12"/>
          <p:cNvSpPr txBox="1"/>
          <p:nvPr/>
        </p:nvSpPr>
        <p:spPr>
          <a:xfrm>
            <a:off x="777240" y="5303520"/>
            <a:ext cx="4572000" cy="777240"/>
          </a:xfrm>
          <a:prstGeom prst="rect">
            <a:avLst/>
          </a:prstGeom>
          <a:noFill/>
          <a:ln/>
        </p:spPr>
        <p:txBody>
          <a:bodyPr wrap="square" lIns="0" tIns="0" rIns="0" bIns="0" rtlCol="0" anchor="ctr"/>
          <a:lstStyle/>
          <a:p>
            <a:pPr indent="0" marL="0">
              <a:buNone/>
            </a:pPr>
            <a:r>
              <a:rPr lang="en-US" sz="1300" dirty="0">
                <a:solidFill>
                  <a:schemeClr val="tx2"/>
                </a:solidFill>
              </a:rPr>
              <a:t>Su pérdida de validación seguía bajando: con 5 épocas y solo la última capa entrenable, no llegó a converger.</a:t>
            </a:r>
            <a:endParaRPr lang="en-US" sz="1300" dirty="0"/>
          </a:p>
        </p:txBody>
      </p:sp>
      <p:pic>
        <p:nvPicPr>
          <p:cNvPr id="15" name="curvas-convergencia" descr="curvas-convergencia">    </p:cNvPr>
          <p:cNvPicPr>
            <a:picLocks noChangeAspect="1"/>
          </p:cNvPicPr>
          <p:nvPr/>
        </p:nvPicPr>
        <p:blipFill>
          <a:blip r:embed="rId1"/>
          <a:stretch>
            <a:fillRect/>
          </a:stretch>
        </p:blipFill>
        <p:spPr>
          <a:xfrm>
            <a:off x="5760720" y="1681843"/>
            <a:ext cx="5852160" cy="4180114"/>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Con 112k imágenes todos mejoran ~0.05</a:t>
            </a:r>
            <a:endParaRPr lang="en-US" sz="2800" dirty="0"/>
          </a:p>
        </p:txBody>
      </p:sp>
      <p:graphicFrame>
        <p:nvGraphicFramePr>
          <p:cNvPr id="7" name="tabla-112k"/>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286000"/>
                <a:gridCol w="1737360"/>
                <a:gridCol w="3291840"/>
                <a:gridCol w="1737360"/>
                <a:gridCol w="2011680"/>
              </a:tblGrid>
              <a:tr h="438912">
                <a:tc>
                  <a:txBody>
                    <a:bodyPr/>
                    <a:lstStyle/>
                    <a:p>
                      <a:pPr algn="ctr" indent="0" marL="0">
                        <a:buNone/>
                      </a:pPr>
                      <a:r>
                        <a:rPr lang="en-US" sz="1500" b="1" dirty="0">
                          <a:solidFill>
                            <a:srgbClr val="FFFFFF"/>
                          </a:solidFill>
                        </a:rPr>
                        <a:t>Modelo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12k</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112k [IC 95%]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Cambio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Mejor época</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r>
              <a:tr h="438912">
                <a:tc>
                  <a:txBody>
                    <a:bodyPr/>
                    <a:lstStyle/>
                    <a:p>
                      <a:pPr indent="0" marL="0">
                        <a:buNone/>
                      </a:pPr>
                      <a:r>
                        <a:rPr lang="en-US" sz="1500" dirty="0">
                          <a:solidFill>
                            <a:srgbClr val="2A78D6"/>
                          </a:solidFill>
                        </a:rPr>
                        <a:t>●  </a:t>
                      </a:r>
                      <a:pPr indent="0" marL="0">
                        <a:buNone/>
                      </a:pPr>
                      <a:r>
                        <a:rPr lang="en-US" sz="1500" b="1" dirty="0">
                          <a:solidFill>
                            <a:srgbClr val="1B2430"/>
                          </a:solidFill>
                        </a:rPr>
                        <a:t>DenseNet121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0.792  [0.785, 0.799]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+0.046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B6834"/>
                          </a:solidFill>
                        </a:rPr>
                        <a:t>●  </a:t>
                      </a:r>
                      <a:pPr indent="0" marL="0">
                        <a:buNone/>
                      </a:pPr>
                      <a:r>
                        <a:rPr lang="en-US" sz="1500" b="1" dirty="0">
                          <a:solidFill>
                            <a:srgbClr val="1B2430"/>
                          </a:solidFill>
                        </a:rPr>
                        <a:t>ResNet18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B2430"/>
                          </a:solidFill>
                        </a:rPr>
                        <a:t>0.799  [0.792, 0.806]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2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BAF7A"/>
                          </a:solidFill>
                        </a:rPr>
                        <a:t>●  </a:t>
                      </a:r>
                      <a:pPr indent="0" marL="0">
                        <a:buNone/>
                      </a:pPr>
                      <a:r>
                        <a:rPr lang="en-US" sz="1500" b="1" dirty="0">
                          <a:solidFill>
                            <a:srgbClr val="1B2430"/>
                          </a:solidFill>
                        </a:rPr>
                        <a:t>ViT-B/16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0.793  [0.787, 0.799]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+0.051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DA100"/>
                          </a:solidFill>
                        </a:rPr>
                        <a:t>●  </a:t>
                      </a:r>
                      <a:pPr indent="0" marL="0">
                        <a:buNone/>
                      </a:pPr>
                      <a:r>
                        <a:rPr lang="en-US" sz="1500" b="1" dirty="0">
                          <a:solidFill>
                            <a:srgbClr val="1B2430"/>
                          </a:solidFill>
                        </a:rPr>
                        <a:t>MaxViT-T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0.733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0.790  [0.783, 0.797]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B2430"/>
                          </a:solidFill>
                        </a:rPr>
                        <a:t>+0.057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5 → 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6250D6"/>
                          </a:solidFill>
                        </a:rPr>
                        <a:t>●  </a:t>
                      </a:r>
                      <a:pPr indent="0" marL="0">
                        <a:buNone/>
                      </a:pPr>
                      <a:r>
                        <a:rPr lang="en-US" sz="1500" b="1" dirty="0">
                          <a:solidFill>
                            <a:srgbClr val="1B2430"/>
                          </a:solidFill>
                        </a:rPr>
                        <a:t>Ensemble</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0.767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0.813  [0.807, 0.820]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+0.046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r>
            </a:tbl>
          </a:graphicData>
        </a:graphic>
      </p:graphicFrame>
      <p:sp>
        <p:nvSpPr>
          <p:cNvPr id="4" name="hallazgo112k-0"/>
          <p:cNvSpPr/>
          <p:nvPr/>
        </p:nvSpPr>
        <p:spPr>
          <a:xfrm>
            <a:off x="548640" y="4206240"/>
            <a:ext cx="3520440" cy="1417320"/>
          </a:xfrm>
          <a:prstGeom prst="roundRect">
            <a:avLst>
              <a:gd name="adj" fmla="val 7742"/>
            </a:avLst>
          </a:prstGeom>
          <a:solidFill>
            <a:srgbClr val="EEF2F5"/>
          </a:solidFill>
          <a:ln w="12700">
            <a:solidFill>
              <a:srgbClr val="EEF2F5"/>
            </a:solidFill>
            <a:prstDash val="solid"/>
          </a:ln>
        </p:spPr>
      </p:sp>
      <p:sp>
        <p:nvSpPr>
          <p:cNvPr id="5" name="Text 2"/>
          <p:cNvSpPr txBox="1"/>
          <p:nvPr/>
        </p:nvSpPr>
        <p:spPr>
          <a:xfrm>
            <a:off x="77724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El híbrido es el que más gana</a:t>
            </a:r>
            <a:endParaRPr lang="en-US" sz="1600" dirty="0"/>
          </a:p>
          <a:p>
            <a:pPr indent="0" marL="0">
              <a:spcAft>
                <a:spcPts val="600"/>
              </a:spcAft>
              <a:buNone/>
            </a:pPr>
            <a:r>
              <a:rPr lang="en-US" sz="1400" dirty="0">
                <a:solidFill>
                  <a:schemeClr val="tx2"/>
                </a:solidFill>
              </a:rPr>
              <a:t>MaxViT-T +0.057 y ahora converge (mejor época 4): le faltaban datos</a:t>
            </a:r>
            <a:endParaRPr lang="en-US" sz="1600" dirty="0"/>
          </a:p>
        </p:txBody>
      </p:sp>
      <p:sp>
        <p:nvSpPr>
          <p:cNvPr id="6" name="hallazgo112k-1"/>
          <p:cNvSpPr/>
          <p:nvPr/>
        </p:nvSpPr>
        <p:spPr>
          <a:xfrm>
            <a:off x="4297680" y="4206240"/>
            <a:ext cx="3520440" cy="1417320"/>
          </a:xfrm>
          <a:prstGeom prst="roundRect">
            <a:avLst>
              <a:gd name="adj" fmla="val 7742"/>
            </a:avLst>
          </a:prstGeom>
          <a:solidFill>
            <a:srgbClr val="EEF2F5"/>
          </a:solidFill>
          <a:ln w="12700">
            <a:solidFill>
              <a:srgbClr val="EEF2F5"/>
            </a:solidFill>
            <a:prstDash val="solid"/>
          </a:ln>
        </p:spPr>
      </p:sp>
      <p:sp>
        <p:nvSpPr>
          <p:cNvPr id="7" name="Text 4"/>
          <p:cNvSpPr txBox="1"/>
          <p:nvPr/>
        </p:nvSpPr>
        <p:spPr>
          <a:xfrm>
            <a:off x="452628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El ensemble sigue arriba</a:t>
            </a:r>
            <a:endParaRPr lang="en-US" sz="1600" dirty="0"/>
          </a:p>
          <a:p>
            <a:pPr indent="0" marL="0">
              <a:spcAft>
                <a:spcPts val="600"/>
              </a:spcAft>
              <a:buNone/>
            </a:pPr>
            <a:r>
              <a:rPr lang="en-US" sz="1400" dirty="0">
                <a:solidFill>
                  <a:schemeClr val="tx2"/>
                </a:solidFill>
              </a:rPr>
              <a:t>AUROC 0.813, significativamente mejor que cada modelo</a:t>
            </a:r>
            <a:endParaRPr lang="en-US" sz="1600" dirty="0"/>
          </a:p>
        </p:txBody>
      </p:sp>
      <p:sp>
        <p:nvSpPr>
          <p:cNvPr id="8" name="hallazgo112k-2"/>
          <p:cNvSpPr/>
          <p:nvPr/>
        </p:nvSpPr>
        <p:spPr>
          <a:xfrm>
            <a:off x="8046720" y="4206240"/>
            <a:ext cx="3520440" cy="1417320"/>
          </a:xfrm>
          <a:prstGeom prst="roundRect">
            <a:avLst>
              <a:gd name="adj" fmla="val 7742"/>
            </a:avLst>
          </a:prstGeom>
          <a:solidFill>
            <a:srgbClr val="EEF2F5"/>
          </a:solidFill>
          <a:ln w="12700">
            <a:solidFill>
              <a:srgbClr val="EEF2F5"/>
            </a:solidFill>
            <a:prstDash val="solid"/>
          </a:ln>
        </p:spPr>
      </p:sp>
      <p:sp>
        <p:nvSpPr>
          <p:cNvPr id="9" name="Text 6"/>
          <p:cNvSpPr txBox="1"/>
          <p:nvPr/>
        </p:nvSpPr>
        <p:spPr>
          <a:xfrm>
            <a:off x="827532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ResNet18, mejor individual</a:t>
            </a:r>
            <a:endParaRPr lang="en-US" sz="1600" dirty="0"/>
          </a:p>
          <a:p>
            <a:pPr indent="0" marL="0">
              <a:spcAft>
                <a:spcPts val="600"/>
              </a:spcAft>
              <a:buNone/>
            </a:pPr>
            <a:r>
              <a:rPr lang="en-US" sz="1400" dirty="0">
                <a:solidFill>
                  <a:schemeClr val="tx2"/>
                </a:solidFill>
              </a:rPr>
              <a:t>Con 9× más datos de prueba la diferencia ya es significativa, pero pequeña (&lt;0.01)</a:t>
            </a:r>
            <a:endParaRPr lang="en-US" sz="1600" dirty="0"/>
          </a:p>
        </p:txBody>
      </p:sp>
      <p:sp>
        <p:nvSpPr>
          <p:cNvPr id="10" name="Text 7"/>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300" i="1" dirty="0">
                <a:solidFill>
                  <a:schemeClr val="accent5"/>
                </a:solidFill>
              </a:rPr>
              <a:t>Mismo protocolo, incluido el fine-tuning parcial, con las 112,120 imágenes (prueba: 16,822); corrida en modo de bajo consumo para evitar los apagados del equipo.</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Por hallazgo, la dificultad pesa más que la arquitectura</a:t>
            </a:r>
            <a:endParaRPr lang="en-US" sz="2800" dirty="0"/>
          </a:p>
        </p:txBody>
      </p:sp>
      <p:pic>
        <p:nvPicPr>
          <p:cNvPr id="3" name="auroc-por-clase" descr="auroc-por-clase">    </p:cNvPr>
          <p:cNvPicPr>
            <a:picLocks noChangeAspect="1"/>
          </p:cNvPicPr>
          <p:nvPr/>
        </p:nvPicPr>
        <p:blipFill>
          <a:blip r:embed="rId1"/>
          <a:stretch>
            <a:fillRect/>
          </a:stretch>
        </p:blipFill>
        <p:spPr>
          <a:xfrm>
            <a:off x="1177962" y="1234440"/>
            <a:ext cx="4776395" cy="5074920"/>
          </a:xfrm>
          <a:prstGeom prst="rect">
            <a:avLst/>
          </a:prstGeom>
        </p:spPr>
      </p:pic>
      <p:sp>
        <p:nvSpPr>
          <p:cNvPr id="4" name="Text 1"/>
          <p:cNvSpPr txBox="1"/>
          <p:nvPr/>
        </p:nvSpPr>
        <p:spPr>
          <a:xfrm>
            <a:off x="6949440" y="1463040"/>
            <a:ext cx="4663440" cy="47548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Más fáciles</a:t>
            </a:r>
            <a:endParaRPr lang="en-US" sz="1800" dirty="0"/>
          </a:p>
          <a:p>
            <a:pPr marL="342900" indent="-342900">
              <a:spcAft>
                <a:spcPts val="400"/>
              </a:spcAft>
              <a:buSzPct val="100000"/>
              <a:buChar char="•"/>
            </a:pPr>
            <a:r>
              <a:rPr lang="en-US" sz="1600" dirty="0">
                <a:solidFill>
                  <a:schemeClr val="tx2"/>
                </a:solidFill>
              </a:rPr>
              <a:t>Emphysema: 0.86</a:t>
            </a:r>
            <a:endParaRPr lang="en-US" sz="1800" dirty="0"/>
          </a:p>
          <a:p>
            <a:pPr marL="342900" indent="-342900">
              <a:spcAft>
                <a:spcPts val="400"/>
              </a:spcAft>
              <a:buSzPct val="100000"/>
              <a:buChar char="•"/>
            </a:pPr>
            <a:r>
              <a:rPr lang="en-US" sz="1600" dirty="0">
                <a:solidFill>
                  <a:schemeClr val="tx2"/>
                </a:solidFill>
              </a:rPr>
              <a:t>Edema: 0.85</a:t>
            </a:r>
            <a:endParaRPr lang="en-US" sz="1800" dirty="0"/>
          </a:p>
          <a:p>
            <a:pPr marL="342900" indent="-342900">
              <a:spcAft>
                <a:spcPts val="400"/>
              </a:spcAft>
              <a:buSzPct val="100000"/>
              <a:buChar char="•"/>
            </a:pPr>
            <a:r>
              <a:rPr lang="en-US" sz="1600" dirty="0">
                <a:solidFill>
                  <a:schemeClr val="tx2"/>
                </a:solidFill>
              </a:rPr>
              <a:t>Effusion: 0.84</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800" b="1" dirty="0">
                <a:solidFill>
                  <a:schemeClr val="tx1"/>
                </a:solidFill>
              </a:rPr>
              <a:t>Más difíciles</a:t>
            </a:r>
            <a:endParaRPr lang="en-US" sz="1800" dirty="0"/>
          </a:p>
          <a:p>
            <a:pPr marL="342900" indent="-342900">
              <a:spcAft>
                <a:spcPts val="400"/>
              </a:spcAft>
              <a:buSzPct val="100000"/>
              <a:buChar char="•"/>
            </a:pPr>
            <a:r>
              <a:rPr lang="en-US" sz="1600" dirty="0">
                <a:solidFill>
                  <a:schemeClr val="tx2"/>
                </a:solidFill>
              </a:rPr>
              <a:t>Pneumonia: 0.61</a:t>
            </a:r>
            <a:endParaRPr lang="en-US" sz="1800" dirty="0"/>
          </a:p>
          <a:p>
            <a:pPr marL="342900" indent="-342900">
              <a:spcAft>
                <a:spcPts val="400"/>
              </a:spcAft>
              <a:buSzPct val="100000"/>
              <a:buChar char="•"/>
            </a:pPr>
            <a:r>
              <a:rPr lang="en-US" sz="1600" dirty="0">
                <a:solidFill>
                  <a:schemeClr val="tx2"/>
                </a:solidFill>
              </a:rPr>
              <a:t>Nodule: 0.63</a:t>
            </a:r>
            <a:endParaRPr lang="en-US" sz="1800" dirty="0"/>
          </a:p>
          <a:p>
            <a:pPr marL="342900" indent="-342900">
              <a:spcAft>
                <a:spcPts val="400"/>
              </a:spcAft>
              <a:buSzPct val="100000"/>
              <a:buChar char="•"/>
            </a:pPr>
            <a:r>
              <a:rPr lang="en-US" sz="1600" dirty="0">
                <a:solidFill>
                  <a:schemeClr val="tx2"/>
                </a:solidFill>
              </a:rPr>
              <a:t>Infiltration: 0.67</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300" i="1" dirty="0">
                <a:solidFill>
                  <a:schemeClr val="accent5"/>
                </a:solidFill>
              </a:rPr>
              <a:t>Promedio de los cuatro modelos. Los hallazgos con pocos positivos en prueba (p. ej. Hernia, n=8) tienen estimaciones inestables.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ViT y MaxViT: ~13× más lentos que ResNet18</a:t>
            </a:r>
            <a:endParaRPr lang="en-US" sz="2800" dirty="0"/>
          </a:p>
        </p:txBody>
      </p:sp>
      <p:graphicFrame>
        <p:nvGraphicFramePr>
          <p:cNvPr id="3" name="costo-0" descr=""/>
          <p:cNvGraphicFramePr/>
          <p:nvPr/>
        </p:nvGraphicFramePr>
        <p:xfrm>
          <a:off x="548640" y="1325880"/>
          <a:ext cx="35661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osto-1" descr=""/>
          <p:cNvGraphicFramePr/>
          <p:nvPr/>
        </p:nvGraphicFramePr>
        <p:xfrm>
          <a:off x="4297680" y="1325880"/>
          <a:ext cx="356616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osto-2" descr=""/>
          <p:cNvGraphicFramePr/>
          <p:nvPr/>
        </p:nvGraphicFramePr>
        <p:xfrm>
          <a:off x="8046720" y="1325880"/>
          <a:ext cx="3566160" cy="4206240"/>
        </p:xfrm>
        <a:graphic xmlns:a="http://schemas.openxmlformats.org/drawingml/2006/main">
          <a:graphicData uri="http://schemas.openxmlformats.org/drawingml/2006/chart">
            <c:chart xmlns:c="http://schemas.openxmlformats.org/drawingml/2006/chart" r:id="rId3"/>
          </a:graphicData>
        </a:graphic>
      </p:graphicFrame>
      <p:sp>
        <p:nvSpPr>
          <p:cNvPr id="6" name="Text 1"/>
          <p:cNvSpPr txBox="1"/>
          <p:nvPr/>
        </p:nvSpPr>
        <p:spPr>
          <a:xfrm>
            <a:off x="548640" y="5669280"/>
            <a:ext cx="11064240" cy="640080"/>
          </a:xfrm>
          <a:prstGeom prst="rect">
            <a:avLst/>
          </a:prstGeom>
          <a:noFill/>
          <a:ln/>
        </p:spPr>
        <p:txBody>
          <a:bodyPr wrap="square" lIns="0" tIns="0" rIns="0" bIns="0" rtlCol="0" anchor="ctr"/>
          <a:lstStyle/>
          <a:p>
            <a:pPr indent="0" marL="0">
              <a:buNone/>
            </a:pPr>
            <a:r>
              <a:rPr lang="en-US" sz="1400" dirty="0">
                <a:solidFill>
                  <a:schemeClr val="tx2"/>
                </a:solidFill>
              </a:rPr>
              <a:t>Tiempo total de entrenamiento (5 épocas): DenseNet121 190 s · ResNet18 187 s · ViT-B/16 275 s · MaxViT-T 215 s. Entre los modelos individuales, ResNet18 es el mejor compromiso: el más rápido y el que menos memoria usa.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¿Dónde miran los modelos?</a:t>
            </a:r>
            <a:endParaRPr lang="en-US" sz="2800" dirty="0"/>
          </a:p>
        </p:txBody>
      </p:sp>
      <p:pic>
        <p:nvPicPr>
          <p:cNvPr id="3" name="gradcam" descr="gradcam">    </p:cNvPr>
          <p:cNvPicPr>
            <a:picLocks noChangeAspect="1"/>
          </p:cNvPicPr>
          <p:nvPr/>
        </p:nvPicPr>
        <p:blipFill>
          <a:blip r:embed="rId1"/>
          <a:stretch>
            <a:fillRect/>
          </a:stretch>
        </p:blipFill>
        <p:spPr>
          <a:xfrm>
            <a:off x="1600200" y="1234440"/>
            <a:ext cx="5669280" cy="4251960"/>
          </a:xfrm>
          <a:prstGeom prst="rect">
            <a:avLst/>
          </a:prstGeom>
        </p:spPr>
      </p:pic>
      <p:pic>
        <p:nvPicPr>
          <p:cNvPr id="4" name="atencion-vit" descr="atencion-vit">    </p:cNvPr>
          <p:cNvPicPr>
            <a:picLocks noChangeAspect="1"/>
          </p:cNvPicPr>
          <p:nvPr/>
        </p:nvPicPr>
        <p:blipFill>
          <a:blip r:embed="rId2"/>
          <a:stretch>
            <a:fillRect/>
          </a:stretch>
        </p:blipFill>
        <p:spPr>
          <a:xfrm>
            <a:off x="7452360" y="1234440"/>
            <a:ext cx="4251960" cy="4251960"/>
          </a:xfrm>
          <a:prstGeom prst="rect">
            <a:avLst/>
          </a:prstGeom>
        </p:spPr>
      </p:pic>
      <p:sp>
        <p:nvSpPr>
          <p:cNvPr id="5" name="fila-1"/>
          <p:cNvSpPr txBox="1"/>
          <p:nvPr/>
        </p:nvSpPr>
        <p:spPr>
          <a:xfrm>
            <a:off x="320040" y="1234440"/>
            <a:ext cx="1234440" cy="1417320"/>
          </a:xfrm>
          <a:prstGeom prst="rect">
            <a:avLst/>
          </a:prstGeom>
          <a:noFill/>
          <a:ln/>
        </p:spPr>
        <p:txBody>
          <a:bodyPr wrap="square" lIns="0" tIns="0" rIns="0" bIns="0" rtlCol="0" anchor="ctr"/>
          <a:lstStyle/>
          <a:p>
            <a:pPr indent="0" marL="0">
              <a:buNone/>
            </a:pPr>
            <a:r>
              <a:rPr lang="en-US" sz="1500" b="1" dirty="0">
                <a:solidFill>
                  <a:schemeClr val="tx1"/>
                </a:solidFill>
              </a:rPr>
              <a:t>Infiltración</a:t>
            </a:r>
            <a:endParaRPr lang="en-US" sz="1500" dirty="0"/>
          </a:p>
          <a:p>
            <a:pPr indent="0" marL="0">
              <a:buNone/>
            </a:pPr>
            <a:r>
              <a:rPr lang="en-US" sz="1100" dirty="0">
                <a:solidFill>
                  <a:schemeClr val="accent5"/>
                </a:solidFill>
              </a:rPr>
              <a:t>(Infiltration)</a:t>
            </a:r>
            <a:endParaRPr lang="en-US" sz="1500" dirty="0"/>
          </a:p>
        </p:txBody>
      </p:sp>
      <p:sp>
        <p:nvSpPr>
          <p:cNvPr id="6" name="fila-2"/>
          <p:cNvSpPr txBox="1"/>
          <p:nvPr/>
        </p:nvSpPr>
        <p:spPr>
          <a:xfrm>
            <a:off x="320040" y="2651760"/>
            <a:ext cx="1234440" cy="1417320"/>
          </a:xfrm>
          <a:prstGeom prst="rect">
            <a:avLst/>
          </a:prstGeom>
          <a:noFill/>
          <a:ln/>
        </p:spPr>
        <p:txBody>
          <a:bodyPr wrap="square" lIns="0" tIns="0" rIns="0" bIns="0" rtlCol="0" anchor="ctr"/>
          <a:lstStyle/>
          <a:p>
            <a:pPr indent="0" marL="0">
              <a:buNone/>
            </a:pPr>
            <a:r>
              <a:rPr lang="en-US" sz="1500" b="1" dirty="0">
                <a:solidFill>
                  <a:schemeClr val="tx1"/>
                </a:solidFill>
              </a:rPr>
              <a:t>Derrame pleural</a:t>
            </a:r>
            <a:endParaRPr lang="en-US" sz="1500" dirty="0"/>
          </a:p>
          <a:p>
            <a:pPr indent="0" marL="0">
              <a:buNone/>
            </a:pPr>
            <a:r>
              <a:rPr lang="en-US" sz="1100" dirty="0">
                <a:solidFill>
                  <a:schemeClr val="accent5"/>
                </a:solidFill>
              </a:rPr>
              <a:t>(Effusion)</a:t>
            </a:r>
            <a:endParaRPr lang="en-US" sz="1500" dirty="0"/>
          </a:p>
        </p:txBody>
      </p:sp>
      <p:sp>
        <p:nvSpPr>
          <p:cNvPr id="7" name="fila-3"/>
          <p:cNvSpPr txBox="1"/>
          <p:nvPr/>
        </p:nvSpPr>
        <p:spPr>
          <a:xfrm>
            <a:off x="320040" y="4069080"/>
            <a:ext cx="1234440" cy="1417320"/>
          </a:xfrm>
          <a:prstGeom prst="rect">
            <a:avLst/>
          </a:prstGeom>
          <a:noFill/>
          <a:ln/>
        </p:spPr>
        <p:txBody>
          <a:bodyPr wrap="square" lIns="0" tIns="0" rIns="0" bIns="0" rtlCol="0" anchor="ctr"/>
          <a:lstStyle/>
          <a:p>
            <a:pPr indent="0" marL="0">
              <a:buNone/>
            </a:pPr>
            <a:r>
              <a:rPr lang="en-US" sz="1500" b="1" dirty="0">
                <a:solidFill>
                  <a:schemeClr val="tx1"/>
                </a:solidFill>
              </a:rPr>
              <a:t>Atelectasia</a:t>
            </a:r>
            <a:endParaRPr lang="en-US" sz="1500" dirty="0"/>
          </a:p>
          <a:p>
            <a:pPr indent="0" marL="0">
              <a:buNone/>
            </a:pPr>
            <a:r>
              <a:rPr lang="en-US" sz="1100" dirty="0">
                <a:solidFill>
                  <a:schemeClr val="accent5"/>
                </a:solidFill>
              </a:rPr>
              <a:t>(Atelectasis)</a:t>
            </a:r>
            <a:endParaRPr lang="en-US" sz="1500" dirty="0"/>
          </a:p>
        </p:txBody>
      </p:sp>
      <p:sp>
        <p:nvSpPr>
          <p:cNvPr id="8" name="Text 4"/>
          <p:cNvSpPr txBox="1"/>
          <p:nvPr/>
        </p:nvSpPr>
        <p:spPr>
          <a:xfrm>
            <a:off x="1600200" y="5577840"/>
            <a:ext cx="5669280" cy="365760"/>
          </a:xfrm>
          <a:prstGeom prst="rect">
            <a:avLst/>
          </a:prstGeom>
          <a:noFill/>
          <a:ln/>
        </p:spPr>
        <p:txBody>
          <a:bodyPr wrap="square" lIns="0" tIns="0" rIns="0" bIns="0" rtlCol="0" anchor="ctr"/>
          <a:lstStyle/>
          <a:p>
            <a:pPr algn="ctr" indent="0" marL="0">
              <a:buNone/>
            </a:pPr>
            <a:r>
              <a:rPr lang="en-US" sz="1200" dirty="0">
                <a:solidFill>
                  <a:schemeClr val="accent5"/>
                </a:solidFill>
              </a:rPr>
              <a:t>Grad-CAM de DenseNet, ResNet y el híbrido (columna 1: radiografía original)</a:t>
            </a:r>
            <a:endParaRPr lang="en-US" sz="1200" dirty="0"/>
          </a:p>
        </p:txBody>
      </p:sp>
      <p:sp>
        <p:nvSpPr>
          <p:cNvPr id="9" name="Text 5"/>
          <p:cNvSpPr txBox="1"/>
          <p:nvPr/>
        </p:nvSpPr>
        <p:spPr>
          <a:xfrm>
            <a:off x="7452360" y="5577840"/>
            <a:ext cx="4251960" cy="365760"/>
          </a:xfrm>
          <a:prstGeom prst="rect">
            <a:avLst/>
          </a:prstGeom>
          <a:noFill/>
          <a:ln/>
        </p:spPr>
        <p:txBody>
          <a:bodyPr wrap="square" lIns="0" tIns="0" rIns="0" bIns="0" rtlCol="0" anchor="ctr"/>
          <a:lstStyle/>
          <a:p>
            <a:pPr algn="ctr" indent="0" marL="0">
              <a:buNone/>
            </a:pPr>
            <a:r>
              <a:rPr lang="en-US" sz="1200" dirty="0">
                <a:solidFill>
                  <a:schemeClr val="accent5"/>
                </a:solidFill>
              </a:rPr>
              <a:t>ViT: atención del último bloque y rollout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bg1"/>
                </a:solidFill>
              </a:rPr>
              <a:t>Conclusiones</a:t>
            </a:r>
            <a:endParaRPr lang="en-US" sz="2800" dirty="0"/>
          </a:p>
        </p:txBody>
      </p:sp>
      <p:sp>
        <p:nvSpPr>
          <p:cNvPr id="3" name="Shape 1"/>
          <p:cNvSpPr/>
          <p:nvPr/>
        </p:nvSpPr>
        <p:spPr>
          <a:xfrm>
            <a:off x="548640" y="1399032"/>
            <a:ext cx="274320" cy="274320"/>
          </a:xfrm>
          <a:prstGeom prst="ellipse">
            <a:avLst/>
          </a:prstGeom>
          <a:solidFill>
            <a:srgbClr val="2A78D6"/>
          </a:solidFill>
          <a:ln w="12700">
            <a:solidFill>
              <a:srgbClr val="2A78D6"/>
            </a:solidFill>
            <a:prstDash val="solid"/>
          </a:ln>
        </p:spPr>
      </p:sp>
      <p:sp>
        <p:nvSpPr>
          <p:cNvPr id="4" name="Text 2"/>
          <p:cNvSpPr txBox="1"/>
          <p:nvPr/>
        </p:nvSpPr>
        <p:spPr>
          <a:xfrm>
            <a:off x="1051560" y="1325880"/>
            <a:ext cx="10515600" cy="914400"/>
          </a:xfrm>
          <a:prstGeom prst="rect">
            <a:avLst/>
          </a:prstGeom>
          <a:noFill/>
          <a:ln/>
        </p:spPr>
        <p:txBody>
          <a:bodyPr wrap="square" lIns="0" tIns="0" rIns="0" bIns="0" rtlCol="0" anchor="t"/>
          <a:lstStyle/>
          <a:p>
            <a:pPr indent="0" marL="0">
              <a:buNone/>
            </a:pPr>
            <a:r>
              <a:rPr lang="en-US" sz="1800" b="1" dirty="0">
                <a:solidFill>
                  <a:schemeClr val="bg1"/>
                </a:solidFill>
              </a:rPr>
              <a:t>Desempeño</a:t>
            </a:r>
            <a:endParaRPr lang="en-US" sz="1800" dirty="0"/>
          </a:p>
          <a:p>
            <a:pPr indent="0" marL="0">
              <a:buNone/>
            </a:pPr>
            <a:r>
              <a:rPr lang="en-US" sz="1500" dirty="0">
                <a:solidFill>
                  <a:schemeClr val="accent6"/>
                </a:solidFill>
              </a:rPr>
              <a:t>Rinden casi igual (AUROC 0.73–0.75); con 112k todos suben ~0.05 y ResNet18 gana por &lt;0.01.</a:t>
            </a:r>
            <a:endParaRPr lang="en-US" sz="1800" dirty="0"/>
          </a:p>
        </p:txBody>
      </p:sp>
      <p:sp>
        <p:nvSpPr>
          <p:cNvPr id="5" name="Shape 3"/>
          <p:cNvSpPr/>
          <p:nvPr/>
        </p:nvSpPr>
        <p:spPr>
          <a:xfrm>
            <a:off x="548640" y="2423160"/>
            <a:ext cx="274320" cy="274320"/>
          </a:xfrm>
          <a:prstGeom prst="ellipse">
            <a:avLst/>
          </a:prstGeom>
          <a:solidFill>
            <a:srgbClr val="6250D6"/>
          </a:solidFill>
          <a:ln w="12700">
            <a:solidFill>
              <a:srgbClr val="6250D6"/>
            </a:solidFill>
            <a:prstDash val="solid"/>
          </a:ln>
        </p:spPr>
      </p:sp>
      <p:sp>
        <p:nvSpPr>
          <p:cNvPr id="6" name="Text 4"/>
          <p:cNvSpPr txBox="1"/>
          <p:nvPr/>
        </p:nvSpPr>
        <p:spPr>
          <a:xfrm>
            <a:off x="1051560" y="2350008"/>
            <a:ext cx="10515600" cy="914400"/>
          </a:xfrm>
          <a:prstGeom prst="rect">
            <a:avLst/>
          </a:prstGeom>
          <a:noFill/>
          <a:ln/>
        </p:spPr>
        <p:txBody>
          <a:bodyPr wrap="square" lIns="0" tIns="0" rIns="0" bIns="0" rtlCol="0" anchor="t"/>
          <a:lstStyle/>
          <a:p>
            <a:pPr indent="0" marL="0">
              <a:buNone/>
            </a:pPr>
            <a:r>
              <a:rPr lang="en-US" sz="1800" b="1" dirty="0">
                <a:solidFill>
                  <a:schemeClr val="bg1"/>
                </a:solidFill>
              </a:rPr>
              <a:t>Ensemble e híbrido</a:t>
            </a:r>
            <a:endParaRPr lang="en-US" sz="1800" dirty="0"/>
          </a:p>
          <a:p>
            <a:pPr indent="0" marL="0">
              <a:buNone/>
            </a:pPr>
            <a:r>
              <a:rPr lang="en-US" sz="1500" dirty="0">
                <a:solidFill>
                  <a:schemeClr val="accent6"/>
                </a:solidFill>
              </a:rPr>
              <a:t>Combinar los cuatro mejora a todos (AUROC 0.767). Con 112k llega a 0.813. El híbrido es el que más gana con más datos.</a:t>
            </a:r>
            <a:endParaRPr lang="en-US" sz="1800" dirty="0"/>
          </a:p>
        </p:txBody>
      </p:sp>
      <p:sp>
        <p:nvSpPr>
          <p:cNvPr id="7" name="Shape 5"/>
          <p:cNvSpPr/>
          <p:nvPr/>
        </p:nvSpPr>
        <p:spPr>
          <a:xfrm>
            <a:off x="548640" y="3447288"/>
            <a:ext cx="274320" cy="274320"/>
          </a:xfrm>
          <a:prstGeom prst="ellipse">
            <a:avLst/>
          </a:prstGeom>
          <a:solidFill>
            <a:srgbClr val="EB6834"/>
          </a:solidFill>
          <a:ln w="12700">
            <a:solidFill>
              <a:srgbClr val="EB6834"/>
            </a:solidFill>
            <a:prstDash val="solid"/>
          </a:ln>
        </p:spPr>
      </p:sp>
      <p:sp>
        <p:nvSpPr>
          <p:cNvPr id="8" name="Text 6"/>
          <p:cNvSpPr txBox="1"/>
          <p:nvPr/>
        </p:nvSpPr>
        <p:spPr>
          <a:xfrm>
            <a:off x="1051560" y="3374136"/>
            <a:ext cx="10515600" cy="914400"/>
          </a:xfrm>
          <a:prstGeom prst="rect">
            <a:avLst/>
          </a:prstGeom>
          <a:noFill/>
          <a:ln/>
        </p:spPr>
        <p:txBody>
          <a:bodyPr wrap="square" lIns="0" tIns="0" rIns="0" bIns="0" rtlCol="0" anchor="t"/>
          <a:lstStyle/>
          <a:p>
            <a:pPr indent="0" marL="0">
              <a:buNone/>
            </a:pPr>
            <a:r>
              <a:rPr lang="en-US" sz="1800" b="1" dirty="0">
                <a:solidFill>
                  <a:schemeClr val="bg1"/>
                </a:solidFill>
              </a:rPr>
              <a:t>Costo</a:t>
            </a:r>
            <a:endParaRPr lang="en-US" sz="1800" dirty="0"/>
          </a:p>
          <a:p>
            <a:pPr indent="0" marL="0">
              <a:buNone/>
            </a:pPr>
            <a:r>
              <a:rPr lang="en-US" sz="1500" dirty="0">
                <a:solidFill>
                  <a:schemeClr val="accent6"/>
                </a:solidFill>
              </a:rPr>
              <a:t>ResNet18 es el mejor compromiso individual; ViT y MaxViT son ~13× más lentos sin rendir más.</a:t>
            </a:r>
            <a:endParaRPr lang="en-US" sz="1800" dirty="0"/>
          </a:p>
        </p:txBody>
      </p:sp>
      <p:sp>
        <p:nvSpPr>
          <p:cNvPr id="9" name="Shape 7"/>
          <p:cNvSpPr/>
          <p:nvPr/>
        </p:nvSpPr>
        <p:spPr>
          <a:xfrm>
            <a:off x="548640" y="4471416"/>
            <a:ext cx="274320" cy="274320"/>
          </a:xfrm>
          <a:prstGeom prst="ellipse">
            <a:avLst/>
          </a:prstGeom>
          <a:solidFill>
            <a:srgbClr val="1BAF7A"/>
          </a:solidFill>
          <a:ln w="12700">
            <a:solidFill>
              <a:srgbClr val="1BAF7A"/>
            </a:solidFill>
            <a:prstDash val="solid"/>
          </a:ln>
        </p:spPr>
      </p:sp>
      <p:sp>
        <p:nvSpPr>
          <p:cNvPr id="10" name="Text 8"/>
          <p:cNvSpPr txBox="1"/>
          <p:nvPr/>
        </p:nvSpPr>
        <p:spPr>
          <a:xfrm>
            <a:off x="1051560" y="4398264"/>
            <a:ext cx="10515600" cy="914400"/>
          </a:xfrm>
          <a:prstGeom prst="rect">
            <a:avLst/>
          </a:prstGeom>
          <a:noFill/>
          <a:ln/>
        </p:spPr>
        <p:txBody>
          <a:bodyPr wrap="square" lIns="0" tIns="0" rIns="0" bIns="0" rtlCol="0" anchor="t"/>
          <a:lstStyle/>
          <a:p>
            <a:pPr indent="0" marL="0">
              <a:buNone/>
            </a:pPr>
            <a:r>
              <a:rPr lang="en-US" sz="1800" b="1" dirty="0">
                <a:solidFill>
                  <a:schemeClr val="bg1"/>
                </a:solidFill>
              </a:rPr>
              <a:t>Método</a:t>
            </a:r>
            <a:endParaRPr lang="en-US" sz="1800" dirty="0"/>
          </a:p>
          <a:p>
            <a:pPr indent="0" marL="0">
              <a:buNone/>
            </a:pPr>
            <a:r>
              <a:rPr lang="en-US" sz="1500" dirty="0">
                <a:solidFill>
                  <a:schemeClr val="accent6"/>
                </a:solidFill>
              </a:rPr>
              <a:t>Split por paciente, umbral en validación, intervalos de confianza y repetir el experimento evitaron sobreinterpretar diferencias pequeñas.</a:t>
            </a:r>
            <a:endParaRPr lang="en-US" sz="1800" dirty="0"/>
          </a:p>
        </p:txBody>
      </p:sp>
      <p:sp>
        <p:nvSpPr>
          <p:cNvPr id="11" name="Text 9"/>
          <p:cNvSpPr txBox="1"/>
          <p:nvPr/>
        </p:nvSpPr>
        <p:spPr>
          <a:xfrm>
            <a:off x="548640" y="5440680"/>
            <a:ext cx="11064240" cy="822960"/>
          </a:xfrm>
          <a:prstGeom prst="rect">
            <a:avLst/>
          </a:prstGeom>
          <a:noFill/>
          <a:ln/>
        </p:spPr>
        <p:txBody>
          <a:bodyPr wrap="square" lIns="0" tIns="0" rIns="0" bIns="0" rtlCol="0" anchor="ctr"/>
          <a:lstStyle/>
          <a:p>
            <a:pPr indent="0" marL="0">
              <a:buNone/>
            </a:pPr>
            <a:r>
              <a:rPr lang="en-US" sz="1300" i="1" dirty="0">
                <a:solidFill>
                  <a:schemeClr val="accent6"/>
                </a:solidFill>
              </a:rPr>
              <a:t>Limitaciones: resultados principales con 12k imágenes (confirmados con 112k), etiquetas ruidosas, 5 épocas con fine-tuning parcial, una semilla por corrida, 224 px. Trabajo futuro: fine-tuning completo (todas las capas) sobre las 112k imágenes, aprendizaje auto-supervisado sobre radiografías sin etiquetar, y multimodalidad (edad, sexo, proyección y texto del reporte).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Radiografia">
  <a:themeElements>
    <a:clrScheme name="Radiografia">
      <a:dk1>
        <a:srgbClr val="1B2430"/>
      </a:dk1>
      <a:lt1>
        <a:srgbClr val="FFFFFF"/>
      </a:lt1>
      <a:dk2>
        <a:srgbClr val="3A4756"/>
      </a:dk2>
      <a:lt2>
        <a:srgbClr val="EEF2F5"/>
      </a:lt2>
      <a:accent1>
        <a:srgbClr val="2A78D6"/>
      </a:accent1>
      <a:accent2>
        <a:srgbClr val="EB6834"/>
      </a:accent2>
      <a:accent3>
        <a:srgbClr val="1BAF7A"/>
      </a:accent3>
      <a:accent4>
        <a:srgbClr val="EDA100"/>
      </a:accent4>
      <a:accent5>
        <a:srgbClr val="6B7A8C"/>
      </a:accent5>
      <a:accent6>
        <a:srgbClr val="C9D3DD"/>
      </a:accent6>
      <a:hlink>
        <a:srgbClr val="2A78D6"/>
      </a:hlink>
      <a:folHlink>
        <a:srgbClr val="6B7A8C"/>
      </a:folHlink>
    </a:clrScheme>
    <a:fontScheme name="Radiografi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CNN, Transformer e híbrido CNN-Transformer en NIH ChestX-ray14</dc:title>
  <dc:subject>PptxGenJS Presentation</dc:subject>
  <dc:creator>Alfredo Gallegos López</dc:creator>
  <cp:lastModifiedBy>Alfredo Gallegos López</cp:lastModifiedBy>
  <cp:revision>1</cp:revision>
  <dcterms:created xsi:type="dcterms:W3CDTF">2026-10-15T21:58:22Z</dcterms:created>
  <dcterms:modified xsi:type="dcterms:W3CDTF">2026-10-15T21:58:22Z</dcterms:modified>
</cp:coreProperties>
</file>