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5a4d8ada-6ccf-2f1e-5900-841f444acfea}">
          <p14:sldIdLst>
            <p14:sldId id="256"/>
            <p14:sldId id="257"/>
          </p14:sldIdLst>
        </p14:section>
        <p14:section name="Método" id="{1359adee-85ec-a54e-7ec4-4f5a33c5a773}">
          <p14:sldIdLst>
            <p14:sldId id="258"/>
          </p14:sldIdLst>
        </p14:section>
        <p14:section name="Resultados" id="{effbddeb-36bb-1c03-0e12-5f903d295306}">
          <p14:sldIdLst>
            <p14:sldId id="259"/>
            <p14:sldId id="260"/>
            <p14:sldId id="261"/>
            <p14:sldId id="262"/>
            <p14:sldId id="263"/>
          </p14:sldIdLst>
        </p14:section>
        <p14:section name="Cierre" id="{c7667a80-389e-80ee-5579-bfabebf60ed2}">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una comparación de cuatro arquitecturas para detectar 14 hallazgos en radiografías de tórax: dos redes convolucionales, DenseNet121 y ResNet18; un Vision Transformer, ViT-B/16; y un híbrido que combina convoluciones y atención, MaxViT-T. Además combino los cuatro en un ensemble. La pregunta es qué enfoque conviene en este problema bajo un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NIH ChestX-ray14 tiene 112 mil radiografías de unos 30 mil pacientes, con 14 hallazgos que pueden aparecer juntos. Las etiquetas se extrajeron automáticamente de los reportes, así que tienen ruido, y las clases están muy desbalanceadas: Hernia aparece en 0.2% de las imágenes e Infiltration en 18%. Por eso la exactitud no sirve y la métrica principal es el AUROC.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modelos se entrenan exactamente igual. La partición es por paciente, para que el modelo nunca se evalúe sobre un paciente que ya vio. El desbalance se trata en la evaluación: AUROC, que no depende de la prevalencia, y un umbral por clase elegido en validación. Hice fine-tuning parcial: parto de los pesos de ImageNet y ajusto solo el último bloque y la capa de salida. Por cuatro razones: las primeras capas aprenden rasgos genéricos como bordes y texturas que sirven igual en radiografías; con 8,400 imágenes, ajustar los 86 millones de parámetros del ViT sobreajustaría; el presupuesto de cómputo no daba para fine-tuning completo de cuatro modelos; y aplicar la misma regla a todos mantiene la comparación justa. En el híbrido descongelé solo su última capa para que su capacidad entrenable sea comparable. Y el ensemble es simplemente el promedio de las probabilidades de los cuatro.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métrica principal es el AUROC promedio. Los cuatro modelos individuales quedan entre 0.733 y 0.749, y ninguna diferencia entre ellos es significativa. Además, repetí el experimento y el orden cambió: en la corrida anterior ResNet18 parecía significativamente mejor que DenseNet121 y en esta ya no. El ensemble, en cambio, mejora a todos con significancia: AUROC 0.767. La exactitud es igual a la de un modelo que siempre dice 'sano', por eso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parte exploratoria. El ensemble, que solo promedia las probabilidades, mejora a cada modelo entre 0.018 y 0.034 de AUROC, todas significativas: los modelos cometen errores distintos. Su costo es ejecutar los cuatro. El híbrido MaxViT-T quedó con el AUROC más bajo, pero la curva explica por qué: es el único cuya pérdida de validación seguía bajando en la quinta época. En la literatura los híbridos son los mejores en este dataset, pero con entrenamiento completo; con este presupuesto no alcanzó a converger.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entre hallazgos son mucho mayores que entre modelos. Los más fáciles son Emphysema, Edema, Effusion; los más difíciles, Pneumonia, Nodule, Infiltration: lesiones pequeñas como los nódulos o con etiquetas ambiguas como neumonía e infiltración. Todos los modelos siguen el mismo patrón, lo que sugiere que el límite está en los datos y la resolución más que en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es donde los modelos sí se separan. ViT-B/16 tiene 12 veces los parámetros de DenseNet121, y tanto el ViT como el híbrido son unas 13 veces más lentos que ResNet18 en inferencia, sin rendir más. Con desempeño equivalente, ResNet18 es el mejor compromiso individual; si se busca el máximo desempeño, el ensemble, pagando el costo de correr los cuatro. Nota: en ROCm no hay atención eficiente en memoria, así que los modelos con atención salen algo pesimistas.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derrame pleural, con probabilidades altas, las CNN miran la región torácica correcta. En la infiltración, con probabilidades bajas, los mapas se van a los bordes de la imagen, a la marca de texto 'PORTABLE' o fuera de los pulmones: señal de posibles atajos, un problema conocido en este dataset. Para el ViT, la atención del último bloque sí recorre los campos pulmonares, mientras que el rollout se concentra en las esquinas, un artefacto conocido. Son ejemplos cualitativos, no una medida de localización.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con el mismo presupuesto, ninguna arquitectura domina; la diferencia real está en el costo, donde ResNet18 es el más eficiente. Lo que sí mejora el desempeño es combinar los modelos. El híbrido promete, pero necesita más entrenamiento. Y metodológicamente, evaluar bien —por paciente, con umbrales en validación, intervalos de confianza y repitiendo el experimento— fue lo que evitó conclusiones engañosas. Como siguientes pasos: entrenar con todo el dataset, preentrenamiento auto-supervisado y multimodalidad.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Fine-tuning parcial</a:t>
            </a:r>
            <a:endParaRPr lang="en-US" sz="1800" dirty="0"/>
          </a:p>
          <a:p>
            <a:pPr indent="0" marL="0">
              <a:buNone/>
            </a:pPr>
            <a:r>
              <a:rPr lang="en-US" sz="1400" dirty="0">
                <a:solidFill>
                  <a:schemeClr val="tx2"/>
                </a:solidFill>
              </a:rPr>
              <a:t>Desde ImageNet se ajustan el último bloque + capa de 14 salidas; el resto, congelado.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se ajusta el 31% (2.2M)</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se ajusta el 75% (8.4M)</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se ajusta el 8% (7.1M)</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se ajusta el 30% (9.2M)</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670560" y="1188720"/>
            <a:ext cx="6339840" cy="4754880"/>
          </a:xfrm>
          <a:prstGeom prst="rect">
            <a:avLst/>
          </a:prstGeom>
        </p:spPr>
      </p:pic>
      <p:pic>
        <p:nvPicPr>
          <p:cNvPr id="4" name="atencion-vit" descr="atencion-vit">    </p:cNvPr>
          <p:cNvPicPr>
            <a:picLocks noChangeAspect="1"/>
          </p:cNvPicPr>
          <p:nvPr/>
        </p:nvPicPr>
        <p:blipFill>
          <a:blip r:embed="rId2"/>
          <a:stretch>
            <a:fillRect/>
          </a:stretch>
        </p:blipFill>
        <p:spPr>
          <a:xfrm>
            <a:off x="7406640" y="1325880"/>
            <a:ext cx="4480560" cy="4480560"/>
          </a:xfrm>
          <a:prstGeom prst="rect">
            <a:avLst/>
          </a:prstGeom>
        </p:spPr>
      </p:pic>
      <p:sp>
        <p:nvSpPr>
          <p:cNvPr id="5" name="Text 1"/>
          <p:cNvSpPr txBox="1"/>
          <p:nvPr/>
        </p:nvSpPr>
        <p:spPr>
          <a:xfrm>
            <a:off x="365760" y="5989320"/>
            <a:ext cx="6949440" cy="365760"/>
          </a:xfrm>
          <a:prstGeom prst="rect">
            <a:avLst/>
          </a:prstGeom>
          <a:noFill/>
          <a:ln/>
        </p:spPr>
        <p:txBody>
          <a:bodyPr wrap="square" lIns="0" tIns="0" rIns="0" bIns="0" rtlCol="0" anchor="ctr"/>
          <a:lstStyle/>
          <a:p>
            <a:pPr algn="ctr" indent="0" marL="0">
              <a:buNone/>
            </a:pPr>
            <a:r>
              <a:rPr lang="en-US" sz="1300" dirty="0">
                <a:solidFill>
                  <a:schemeClr val="accent5"/>
                </a:solidFill>
              </a:rPr>
              <a:t>Grad-CAM: DenseNet121, ResNet18 y MaxViT-T (híbrido), para la clase real</a:t>
            </a:r>
            <a:endParaRPr lang="en-US" sz="1300" dirty="0"/>
          </a:p>
        </p:txBody>
      </p:sp>
      <p:sp>
        <p:nvSpPr>
          <p:cNvPr id="6" name="Text 2"/>
          <p:cNvSpPr txBox="1"/>
          <p:nvPr/>
        </p:nvSpPr>
        <p:spPr>
          <a:xfrm>
            <a:off x="7406640" y="5989320"/>
            <a:ext cx="4480560" cy="365760"/>
          </a:xfrm>
          <a:prstGeom prst="rect">
            <a:avLst/>
          </a:prstGeom>
          <a:noFill/>
          <a:ln/>
        </p:spPr>
        <p:txBody>
          <a:bodyPr wrap="square" lIns="0" tIns="0" rIns="0" bIns="0" rtlCol="0" anchor="ctr"/>
          <a:lstStyle/>
          <a:p>
            <a:pPr algn="ctr" indent="0" marL="0">
              <a:buNone/>
            </a:pPr>
            <a:r>
              <a:rPr lang="en-US" sz="1300" dirty="0">
                <a:solidFill>
                  <a:schemeClr val="accent5"/>
                </a:solidFill>
              </a:rPr>
              <a:t>ViT-B/16: atención del último bloque y rollout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CNN, Transformer e híbrido rinden igual con este presupuesto (AUROC 0.73–0.75); la dificultad depende más del hallazgo que de la arquitectura.</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El híbrido necesita más entrenamiento para mostrar su ventaja.</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subconjunto de 12k imágenes (11%), etiquetas ruidosas, 5 épocas con fine-tuning parcial, una semilla por corrida, 224 px. Trabajo futuro: las 112k imágenes y fine-tuning completo,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2026-10-15T09:59:16Z</dcterms:created>
  <dcterms:modified xsi:type="dcterms:W3CDTF">2026-10-15T09:59:16Z</dcterms:modified>
</cp:coreProperties>
</file>