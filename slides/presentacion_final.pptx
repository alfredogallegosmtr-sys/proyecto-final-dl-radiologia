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1366cc85-5b96-bbff-8ddb-99d43215e03e}">
          <p14:sldIdLst>
            <p14:sldId id="256"/>
            <p14:sldId id="257"/>
          </p14:sldIdLst>
        </p14:section>
        <p14:section name="Método" id="{031233cf-87ce-6fd7-cd92-d5332f14dea6}">
          <p14:sldIdLst>
            <p14:sldId id="258"/>
          </p14:sldIdLst>
        </p14:section>
        <p14:section name="Resultados" id="{ed88d144-56d8-dab7-a9ea-6bbd94a93b93}">
          <p14:sldIdLst>
            <p14:sldId id="259"/>
            <p14:sldId id="260"/>
            <p14:sldId id="261"/>
            <p14:sldId id="262"/>
            <p14:sldId id="263"/>
          </p14:sldIdLst>
        </p14:section>
        <p14:section name="Cierre" id="{9243abe5-4015-3a8a-8d5d-40ab8e0403a7}">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7</c:v>
                </c:pt>
                <c:pt idx="1">
                  <c:v>11.2</c:v>
                </c:pt>
                <c:pt idx="2">
                  <c:v>85.8</c:v>
                </c:pt>
                <c:pt idx="3">
                  <c:v>30.4</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442</c:v>
                </c:pt>
                <c:pt idx="1">
                  <c:v>418</c:v>
                </c:pt>
                <c:pt idx="2">
                  <c:v>980</c:v>
                </c:pt>
                <c:pt idx="3">
                  <c:v>1315</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1156</c:v>
                </c:pt>
                <c:pt idx="1">
                  <c:v>4754</c:v>
                </c:pt>
                <c:pt idx="2">
                  <c:v>360</c:v>
                </c:pt>
                <c:pt idx="3">
                  <c:v>373</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una comparación de cuatro arquitecturas para detectar 14 hallazgos en radiografías de tórax: dos redes convolucionales, DenseNet121 y ResNet18; un Vision Transformer, ViT-B/16; y un híbrido que combina convoluciones y atención, MaxViT-T. Además combino los cuatro en un ensemble. La pregunta es qué enfoque conviene en este problema bajo un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NIH ChestX-ray14 tiene 112 mil radiografías de unos 30 mil pacientes, con 14 hallazgos que pueden aparecer juntos. Las etiquetas se extrajeron automáticamente de los reportes, así que tienen ruido, y las clases están muy desbalanceadas: Hernia aparece en 0.2% de las imágenes e Infiltration en 18%. Por eso la exactitud no sirve y la métrica principal es el AUROC.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modelos se entrenan exactamente igual. La partición es por paciente, para que el modelo nunca se evalúe sobre un paciente que ya vio. El desbalance se trata en la evaluación: AUROC, que no depende de la prevalencia, y un umbral por clase elegido en validación. En el híbrido descongelé solo su última capa para que su capacidad entrenable sea comparable a la de los demás. Y el ensemble es simplemente el promedio de las probabilidades de los cuatro.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métrica principal es el AUROC promedio. Los cuatro modelos individuales quedan entre 0.733 y 0.749, y ninguna diferencia entre ellos es significativa. Además, repetí el experimento y el orden cambió: en la corrida anterior ResNet18 parecía significativamente mejor que DenseNet121 y en esta ya no. El ensemble, en cambio, mejora a todos con significancia: AUROC 0.767. La exactitud es igual a la de un modelo que siempre dice 'sano', por eso no sirve para comparar.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parte exploratoria. El ensemble, que solo promedia las probabilidades, mejora a cada modelo entre 0.018 y 0.034 de AUROC, todas significativas: los modelos cometen errores distintos. Su costo es ejecutar los cuatro. El híbrido MaxViT-T quedó con el AUROC más bajo, pero la curva explica por qué: es el único cuya pérdida de validación seguía bajando en la quinta época. En la literatura los híbridos son los mejores en este dataset, pero con entrenamiento completo; con este presupuesto no alcanzó a converger.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entre hallazgos son mucho mayores que entre modelos. Los más fáciles son Emphysema, Edema, Effusion; los más difíciles, Pneumonia, Nodule, Infiltration: lesiones pequeñas como los nódulos o con etiquetas ambiguas como neumonía e infiltración. Todos los modelos siguen el mismo patrón, lo que sugiere que el límite está en los datos y la resolución más que en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costo es donde los modelos sí se separan. ViT-B/16 tiene 12 veces los parámetros de DenseNet121, y tanto el ViT como el híbrido son unas 13 veces más lentos que ResNet18 en inferencia, sin rendir más. Con desempeño equivalente, ResNet18 es el mejor compromiso individual; si se busca el máximo desempeño, el ensemble, pagando el costo de correr los cuatro. Nota: en ROCm no hay atención eficiente en memoria, así que los modelos con atención salen algo pesimistas.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derrame pleural, con probabilidades altas, las CNN miran la región torácica correcta. En la infiltración, con probabilidades bajas, los mapas se van a los bordes de la imagen, a la marca de texto 'PORTABLE' o fuera de los pulmones: señal de posibles atajos, un problema conocido en este dataset. Para el ViT, la atención del último bloque sí recorre los campos pulmonares, mientras que el rollout se concentra en las esquinas, un artefacto conocido. Son ejemplos cualitativos, no una medida de localización.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resumen: con el mismo presupuesto, ninguna arquitectura domina; la diferencia real está en el costo, donde ResNet18 es el más eficiente. Lo que sí mejora el desempeño es combinar los modelos. El híbrido promete, pero necesita más entrenamiento. Y metodológicamente, evaluar bien —por paciente, con umbrales en validación, intervalos de confianza y repitiendo el experimento— fue lo que evitó conclusiones engañosas. Como siguientes pasos: entrenar con todo el dataset, preentrenamiento auto-supervisado y multimodalidad.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Transformer o híbrido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ViT-B/16, MaxViT-T (híbrido) y un ensemble en NIH ChestX-ray14</a:t>
            </a:r>
            <a:endParaRPr lang="en-US" sz="1800" dirty="0"/>
          </a:p>
          <a:p>
            <a:pPr indent="0" marL="0">
              <a:buNone/>
            </a:pPr>
            <a:r>
              <a:rPr lang="en-US" sz="1400" dirty="0">
                <a:solidFill>
                  <a:schemeClr val="accent6"/>
                </a:solidFill>
              </a:rPr>
              <a:t>Alfredo Gallegos López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
        <p:nvSpPr>
          <p:cNvPr id="7" name="Shape 5"/>
          <p:cNvSpPr/>
          <p:nvPr/>
        </p:nvSpPr>
        <p:spPr>
          <a:xfrm>
            <a:off x="1691640" y="1417320"/>
            <a:ext cx="182880" cy="182880"/>
          </a:xfrm>
          <a:prstGeom prst="ellipse">
            <a:avLst/>
          </a:prstGeom>
          <a:solidFill>
            <a:srgbClr val="EDA100"/>
          </a:solidFill>
          <a:ln w="12700">
            <a:solidFill>
              <a:srgbClr val="EDA100"/>
            </a:solidFill>
            <a:prstDash val="solid"/>
          </a:ln>
        </p:spPr>
      </p:sp>
      <p:sp>
        <p:nvSpPr>
          <p:cNvPr id="8" name="Shape 6"/>
          <p:cNvSpPr/>
          <p:nvPr/>
        </p:nvSpPr>
        <p:spPr>
          <a:xfrm>
            <a:off x="2011680" y="1417320"/>
            <a:ext cx="182880" cy="182880"/>
          </a:xfrm>
          <a:prstGeom prst="ellipse">
            <a:avLst/>
          </a:prstGeom>
          <a:solidFill>
            <a:srgbClr val="6250D6"/>
          </a:solidFill>
          <a:ln w="12700">
            <a:solidFill>
              <a:srgbClr val="6250D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cuatro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 desbalance tratado con AUROC y umbral por clase</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Entrenamiento</a:t>
            </a:r>
            <a:endParaRPr lang="en-US" sz="1800" dirty="0"/>
          </a:p>
          <a:p>
            <a:pPr indent="0" marL="0">
              <a:buNone/>
            </a:pPr>
            <a:r>
              <a:rPr lang="en-US" sz="1400" dirty="0">
                <a:solidFill>
                  <a:schemeClr val="tx2"/>
                </a:solidFill>
              </a:rPr>
              <a:t>Pesos de ImageNet; solo el último bloque + capa de 14 salidas.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F1 (umbral elegido en validación), exactitud, IC 95% por bootstrap y comparación pareada</a:t>
            </a:r>
            <a:endParaRPr lang="en-US" sz="1800" dirty="0"/>
          </a:p>
        </p:txBody>
      </p:sp>
      <p:sp>
        <p:nvSpPr>
          <p:cNvPr id="15" name="modelo-densenet121"/>
          <p:cNvSpPr/>
          <p:nvPr/>
        </p:nvSpPr>
        <p:spPr>
          <a:xfrm>
            <a:off x="6949440" y="1325880"/>
            <a:ext cx="4663440" cy="1051560"/>
          </a:xfrm>
          <a:prstGeom prst="roundRect">
            <a:avLst>
              <a:gd name="adj" fmla="val 10435"/>
            </a:avLst>
          </a:prstGeom>
          <a:solidFill>
            <a:srgbClr val="EEF2F5"/>
          </a:solidFill>
          <a:ln w="12700">
            <a:solidFill>
              <a:srgbClr val="EEF2F5"/>
            </a:solidFill>
            <a:prstDash val="solid"/>
          </a:ln>
        </p:spPr>
      </p:sp>
      <p:sp>
        <p:nvSpPr>
          <p:cNvPr id="16" name="Shape 14"/>
          <p:cNvSpPr/>
          <p:nvPr/>
        </p:nvSpPr>
        <p:spPr>
          <a:xfrm>
            <a:off x="7178040" y="1527048"/>
            <a:ext cx="256032" cy="256032"/>
          </a:xfrm>
          <a:prstGeom prst="ellipse">
            <a:avLst/>
          </a:prstGeom>
          <a:solidFill>
            <a:srgbClr val="2A78D6"/>
          </a:solidFill>
          <a:ln w="12700">
            <a:solidFill>
              <a:srgbClr val="2A78D6"/>
            </a:solidFill>
            <a:prstDash val="solid"/>
          </a:ln>
        </p:spPr>
      </p:sp>
      <p:sp>
        <p:nvSpPr>
          <p:cNvPr id="17" name="Text 15"/>
          <p:cNvSpPr txBox="1"/>
          <p:nvPr/>
        </p:nvSpPr>
        <p:spPr>
          <a:xfrm>
            <a:off x="7589520" y="1417320"/>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DenseNet121</a:t>
            </a:r>
            <a:endParaRPr lang="en-US" sz="1800" dirty="0"/>
          </a:p>
        </p:txBody>
      </p:sp>
      <p:sp>
        <p:nvSpPr>
          <p:cNvPr id="18" name="Text 16"/>
          <p:cNvSpPr txBox="1"/>
          <p:nvPr/>
        </p:nvSpPr>
        <p:spPr>
          <a:xfrm>
            <a:off x="7589520" y="1828800"/>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densas (base de CheXNet) · 7.0M parám. (2.2M entrenables)</a:t>
            </a:r>
            <a:endParaRPr lang="en-US" sz="1300" dirty="0"/>
          </a:p>
        </p:txBody>
      </p:sp>
      <p:sp>
        <p:nvSpPr>
          <p:cNvPr id="19" name="modelo-resnet18"/>
          <p:cNvSpPr/>
          <p:nvPr/>
        </p:nvSpPr>
        <p:spPr>
          <a:xfrm>
            <a:off x="6949440" y="2496312"/>
            <a:ext cx="4663440" cy="1051560"/>
          </a:xfrm>
          <a:prstGeom prst="roundRect">
            <a:avLst>
              <a:gd name="adj" fmla="val 10435"/>
            </a:avLst>
          </a:prstGeom>
          <a:solidFill>
            <a:srgbClr val="EEF2F5"/>
          </a:solidFill>
          <a:ln w="12700">
            <a:solidFill>
              <a:srgbClr val="EEF2F5"/>
            </a:solidFill>
            <a:prstDash val="solid"/>
          </a:ln>
        </p:spPr>
      </p:sp>
      <p:sp>
        <p:nvSpPr>
          <p:cNvPr id="20" name="Shape 18"/>
          <p:cNvSpPr/>
          <p:nvPr/>
        </p:nvSpPr>
        <p:spPr>
          <a:xfrm>
            <a:off x="7178040" y="2697480"/>
            <a:ext cx="256032" cy="256032"/>
          </a:xfrm>
          <a:prstGeom prst="ellipse">
            <a:avLst/>
          </a:prstGeom>
          <a:solidFill>
            <a:srgbClr val="EB6834"/>
          </a:solidFill>
          <a:ln w="12700">
            <a:solidFill>
              <a:srgbClr val="EB6834"/>
            </a:solidFill>
            <a:prstDash val="solid"/>
          </a:ln>
        </p:spPr>
      </p:sp>
      <p:sp>
        <p:nvSpPr>
          <p:cNvPr id="21" name="Text 19"/>
          <p:cNvSpPr txBox="1"/>
          <p:nvPr/>
        </p:nvSpPr>
        <p:spPr>
          <a:xfrm>
            <a:off x="7589520" y="2587752"/>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ResNet18</a:t>
            </a:r>
            <a:endParaRPr lang="en-US" sz="1800" dirty="0"/>
          </a:p>
        </p:txBody>
      </p:sp>
      <p:sp>
        <p:nvSpPr>
          <p:cNvPr id="22" name="Text 20"/>
          <p:cNvSpPr txBox="1"/>
          <p:nvPr/>
        </p:nvSpPr>
        <p:spPr>
          <a:xfrm>
            <a:off x="7589520" y="2999232"/>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residuales · 11.2M parám. (8.4M entrenables)</a:t>
            </a:r>
            <a:endParaRPr lang="en-US" sz="1300" dirty="0"/>
          </a:p>
        </p:txBody>
      </p:sp>
      <p:sp>
        <p:nvSpPr>
          <p:cNvPr id="23" name="modelo-vit_b_16"/>
          <p:cNvSpPr/>
          <p:nvPr/>
        </p:nvSpPr>
        <p:spPr>
          <a:xfrm>
            <a:off x="6949440" y="3666744"/>
            <a:ext cx="4663440" cy="1051560"/>
          </a:xfrm>
          <a:prstGeom prst="roundRect">
            <a:avLst>
              <a:gd name="adj" fmla="val 10435"/>
            </a:avLst>
          </a:prstGeom>
          <a:solidFill>
            <a:srgbClr val="EEF2F5"/>
          </a:solidFill>
          <a:ln w="12700">
            <a:solidFill>
              <a:srgbClr val="EEF2F5"/>
            </a:solidFill>
            <a:prstDash val="solid"/>
          </a:ln>
        </p:spPr>
      </p:sp>
      <p:sp>
        <p:nvSpPr>
          <p:cNvPr id="24" name="Shape 22"/>
          <p:cNvSpPr/>
          <p:nvPr/>
        </p:nvSpPr>
        <p:spPr>
          <a:xfrm>
            <a:off x="7178040" y="3867912"/>
            <a:ext cx="256032" cy="256032"/>
          </a:xfrm>
          <a:prstGeom prst="ellipse">
            <a:avLst/>
          </a:prstGeom>
          <a:solidFill>
            <a:srgbClr val="1BAF7A"/>
          </a:solidFill>
          <a:ln w="12700">
            <a:solidFill>
              <a:srgbClr val="1BAF7A"/>
            </a:solidFill>
            <a:prstDash val="solid"/>
          </a:ln>
        </p:spPr>
      </p:sp>
      <p:sp>
        <p:nvSpPr>
          <p:cNvPr id="25" name="Text 23"/>
          <p:cNvSpPr txBox="1"/>
          <p:nvPr/>
        </p:nvSpPr>
        <p:spPr>
          <a:xfrm>
            <a:off x="7589520" y="3758184"/>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ViT-B/16</a:t>
            </a:r>
            <a:endParaRPr lang="en-US" sz="1800" dirty="0"/>
          </a:p>
        </p:txBody>
      </p:sp>
      <p:sp>
        <p:nvSpPr>
          <p:cNvPr id="26" name="Text 24"/>
          <p:cNvSpPr txBox="1"/>
          <p:nvPr/>
        </p:nvSpPr>
        <p:spPr>
          <a:xfrm>
            <a:off x="7589520" y="4169664"/>
            <a:ext cx="3886200" cy="457200"/>
          </a:xfrm>
          <a:prstGeom prst="rect">
            <a:avLst/>
          </a:prstGeom>
          <a:noFill/>
          <a:ln/>
        </p:spPr>
        <p:txBody>
          <a:bodyPr wrap="square" lIns="0" tIns="0" rIns="0" bIns="0" rtlCol="0" anchor="t"/>
          <a:lstStyle/>
          <a:p>
            <a:pPr indent="0" marL="0">
              <a:buNone/>
            </a:pPr>
            <a:r>
              <a:rPr lang="en-US" sz="1300" dirty="0">
                <a:solidFill>
                  <a:schemeClr val="tx2"/>
                </a:solidFill>
              </a:rPr>
              <a:t>Transformer · 12 bloques de auto-atención · 85.8M parám. (7.1M entrenables)</a:t>
            </a:r>
            <a:endParaRPr lang="en-US" sz="1300" dirty="0"/>
          </a:p>
        </p:txBody>
      </p:sp>
      <p:sp>
        <p:nvSpPr>
          <p:cNvPr id="27" name="modelo-maxvit_t"/>
          <p:cNvSpPr/>
          <p:nvPr/>
        </p:nvSpPr>
        <p:spPr>
          <a:xfrm>
            <a:off x="6949440" y="4837176"/>
            <a:ext cx="4663440" cy="1051560"/>
          </a:xfrm>
          <a:prstGeom prst="roundRect">
            <a:avLst>
              <a:gd name="adj" fmla="val 10435"/>
            </a:avLst>
          </a:prstGeom>
          <a:solidFill>
            <a:srgbClr val="EEF2F5"/>
          </a:solidFill>
          <a:ln w="12700">
            <a:solidFill>
              <a:srgbClr val="EEF2F5"/>
            </a:solidFill>
            <a:prstDash val="solid"/>
          </a:ln>
        </p:spPr>
      </p:sp>
      <p:sp>
        <p:nvSpPr>
          <p:cNvPr id="28" name="Shape 26"/>
          <p:cNvSpPr/>
          <p:nvPr/>
        </p:nvSpPr>
        <p:spPr>
          <a:xfrm>
            <a:off x="7178040" y="5038344"/>
            <a:ext cx="256032" cy="256032"/>
          </a:xfrm>
          <a:prstGeom prst="ellipse">
            <a:avLst/>
          </a:prstGeom>
          <a:solidFill>
            <a:srgbClr val="EDA100"/>
          </a:solidFill>
          <a:ln w="12700">
            <a:solidFill>
              <a:srgbClr val="EDA100"/>
            </a:solidFill>
            <a:prstDash val="solid"/>
          </a:ln>
        </p:spPr>
      </p:sp>
      <p:sp>
        <p:nvSpPr>
          <p:cNvPr id="29" name="Text 27"/>
          <p:cNvSpPr txBox="1"/>
          <p:nvPr/>
        </p:nvSpPr>
        <p:spPr>
          <a:xfrm>
            <a:off x="7589520" y="4928616"/>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MaxViT-T</a:t>
            </a:r>
            <a:endParaRPr lang="en-US" sz="1800" dirty="0"/>
          </a:p>
        </p:txBody>
      </p:sp>
      <p:sp>
        <p:nvSpPr>
          <p:cNvPr id="30" name="Text 28"/>
          <p:cNvSpPr txBox="1"/>
          <p:nvPr/>
        </p:nvSpPr>
        <p:spPr>
          <a:xfrm>
            <a:off x="7589520" y="5340096"/>
            <a:ext cx="3886200" cy="457200"/>
          </a:xfrm>
          <a:prstGeom prst="rect">
            <a:avLst/>
          </a:prstGeom>
          <a:noFill/>
          <a:ln/>
        </p:spPr>
        <p:txBody>
          <a:bodyPr wrap="square" lIns="0" tIns="0" rIns="0" bIns="0" rtlCol="0" anchor="t"/>
          <a:lstStyle/>
          <a:p>
            <a:pPr indent="0" marL="0">
              <a:buNone/>
            </a:pPr>
            <a:r>
              <a:rPr lang="en-US" sz="1300" dirty="0">
                <a:solidFill>
                  <a:schemeClr val="tx2"/>
                </a:solidFill>
              </a:rPr>
              <a:t>Híbrido · convoluciones + atención local y global · 30.4M parám. (9.2M entrenables)</a:t>
            </a:r>
            <a:endParaRPr lang="en-US" sz="1300" dirty="0"/>
          </a:p>
        </p:txBody>
      </p:sp>
      <p:sp>
        <p:nvSpPr>
          <p:cNvPr id="31" name="Text 29"/>
          <p:cNvSpPr txBox="1"/>
          <p:nvPr/>
        </p:nvSpPr>
        <p:spPr>
          <a:xfrm>
            <a:off x="6949440" y="6035040"/>
            <a:ext cx="4663440" cy="320040"/>
          </a:xfrm>
          <a:prstGeom prst="rect">
            <a:avLst/>
          </a:prstGeom>
          <a:noFill/>
          <a:ln/>
        </p:spPr>
        <p:txBody>
          <a:bodyPr wrap="square" lIns="0" tIns="0" rIns="0" bIns="0" rtlCol="0" anchor="ctr"/>
          <a:lstStyle/>
          <a:p>
            <a:pPr indent="0" marL="0">
              <a:buNone/>
            </a:pPr>
            <a:r>
              <a:rPr lang="en-US" sz="1300" i="1" dirty="0">
                <a:solidFill>
                  <a:schemeClr val="accent5"/>
                </a:solidFill>
              </a:rPr>
              <a:t>+ Ensemble: promedio de las probabilidades de los cuatro, sin entrenamiento adicional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Ninguna arquitectura domina; el ensemble mejora a todas</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3017520"/>
                <a:gridCol w="1417320"/>
                <a:gridCol w="1417320"/>
                <a:gridCol w="1417320"/>
                <a:gridCol w="160020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macro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macro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micro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Exactitud</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  [0.721, 0.768]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0.188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  [0.725, 0.771]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  [0.717, 0.766]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0.274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  [0.705, 0.759]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0.172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0.767  [0.740, 0.791]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0.204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0.310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Entre modelos individuales</a:t>
            </a:r>
            <a:endParaRPr lang="en-US" sz="1600" dirty="0"/>
          </a:p>
          <a:p>
            <a:pPr indent="0" marL="0">
              <a:spcAft>
                <a:spcPts val="600"/>
              </a:spcAft>
              <a:buNone/>
            </a:pPr>
            <a:r>
              <a:rPr lang="en-US" sz="1400" dirty="0">
                <a:solidFill>
                  <a:schemeClr val="tx2"/>
                </a:solidFill>
              </a:rPr>
              <a:t>Ninguna diferencia de AUROC es significativa</a:t>
            </a:r>
            <a:endParaRPr lang="en-US" sz="1600" dirty="0"/>
          </a:p>
        </p:txBody>
      </p:sp>
      <p:sp>
        <p:nvSpPr>
          <p:cNvPr id="6" name="hallazgo-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Ensemble vs. cada modelo</a:t>
            </a:r>
            <a:endParaRPr lang="en-US" sz="1600" dirty="0"/>
          </a:p>
          <a:p>
            <a:pPr indent="0" marL="0">
              <a:spcAft>
                <a:spcPts val="600"/>
              </a:spcAft>
              <a:buNone/>
            </a:pPr>
            <a:r>
              <a:rPr lang="en-US" sz="1400" dirty="0">
                <a:solidFill>
                  <a:schemeClr val="tx2"/>
                </a:solidFill>
              </a:rPr>
              <a:t>+0.018 a +0.034 de AUROC, todas significativas</a:t>
            </a:r>
            <a:endParaRPr lang="en-US" sz="1600" dirty="0"/>
          </a:p>
        </p:txBody>
      </p:sp>
      <p:sp>
        <p:nvSpPr>
          <p:cNvPr id="8" name="hallazgo-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Todos ≈ 0.950, igual que predecir siempre "sin hallazgo"</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Una repetición independiente del experimento cambió el orden de los modelos individuales (hasta 0.010 de AUROC).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El ensemble mejora a todos; el híbrido no convergió</a:t>
            </a:r>
            <a:endParaRPr lang="en-US" sz="2800" dirty="0"/>
          </a:p>
        </p:txBody>
      </p:sp>
      <p:sp>
        <p:nvSpPr>
          <p:cNvPr id="3" name="stat-ensemble"/>
          <p:cNvSpPr/>
          <p:nvPr/>
        </p:nvSpPr>
        <p:spPr>
          <a:xfrm>
            <a:off x="548640" y="1371600"/>
            <a:ext cx="4937760" cy="2194560"/>
          </a:xfrm>
          <a:prstGeom prst="roundRect">
            <a:avLst>
              <a:gd name="adj" fmla="val 5000"/>
            </a:avLst>
          </a:prstGeom>
          <a:solidFill>
            <a:srgbClr val="EEF2F5"/>
          </a:solidFill>
          <a:ln w="12700">
            <a:solidFill>
              <a:srgbClr val="EEF2F5"/>
            </a:solidFill>
            <a:prstDash val="solid"/>
          </a:ln>
        </p:spPr>
      </p:sp>
      <p:sp>
        <p:nvSpPr>
          <p:cNvPr id="4" name="Shape 2"/>
          <p:cNvSpPr/>
          <p:nvPr/>
        </p:nvSpPr>
        <p:spPr>
          <a:xfrm>
            <a:off x="777240" y="1600200"/>
            <a:ext cx="256032" cy="256032"/>
          </a:xfrm>
          <a:prstGeom prst="ellipse">
            <a:avLst/>
          </a:prstGeom>
          <a:solidFill>
            <a:srgbClr val="6250D6"/>
          </a:solidFill>
          <a:ln w="12700">
            <a:solidFill>
              <a:srgbClr val="6250D6"/>
            </a:solidFill>
            <a:prstDash val="solid"/>
          </a:ln>
        </p:spPr>
      </p:sp>
      <p:sp>
        <p:nvSpPr>
          <p:cNvPr id="5" name="Text 3"/>
          <p:cNvSpPr txBox="1"/>
          <p:nvPr/>
        </p:nvSpPr>
        <p:spPr>
          <a:xfrm>
            <a:off x="1143000" y="153619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Ensemble de los 4 modelos</a:t>
            </a:r>
            <a:endParaRPr lang="en-US" sz="1800" dirty="0"/>
          </a:p>
        </p:txBody>
      </p:sp>
      <p:sp>
        <p:nvSpPr>
          <p:cNvPr id="6" name="Text 4"/>
          <p:cNvSpPr txBox="1"/>
          <p:nvPr/>
        </p:nvSpPr>
        <p:spPr>
          <a:xfrm>
            <a:off x="777240" y="1965960"/>
            <a:ext cx="2377440" cy="868680"/>
          </a:xfrm>
          <a:prstGeom prst="rect">
            <a:avLst/>
          </a:prstGeom>
          <a:noFill/>
          <a:ln/>
        </p:spPr>
        <p:txBody>
          <a:bodyPr wrap="square" lIns="0" tIns="0" rIns="0" bIns="0" rtlCol="0" anchor="ctr"/>
          <a:lstStyle/>
          <a:p>
            <a:pPr indent="0" marL="0">
              <a:buNone/>
            </a:pPr>
            <a:r>
              <a:rPr lang="en-US" sz="4800" b="1" dirty="0">
                <a:solidFill>
                  <a:srgbClr val="6250D6"/>
                </a:solidFill>
                <a:latin typeface="Cambria" pitchFamily="34" charset="0"/>
                <a:ea typeface="Cambria" pitchFamily="34" charset="-122"/>
                <a:cs typeface="Cambria" pitchFamily="34" charset="-120"/>
              </a:rPr>
              <a:t>0.767</a:t>
            </a:r>
            <a:endParaRPr lang="en-US" sz="4800" dirty="0"/>
          </a:p>
        </p:txBody>
      </p:sp>
      <p:sp>
        <p:nvSpPr>
          <p:cNvPr id="7" name="Text 5"/>
          <p:cNvSpPr txBox="1"/>
          <p:nvPr/>
        </p:nvSpPr>
        <p:spPr>
          <a:xfrm>
            <a:off x="3108960" y="205740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+0.018 a +0.034 sobre cada modelo</a:t>
            </a:r>
            <a:endParaRPr lang="en-US" sz="1400" dirty="0"/>
          </a:p>
        </p:txBody>
      </p:sp>
      <p:sp>
        <p:nvSpPr>
          <p:cNvPr id="8" name="Text 6"/>
          <p:cNvSpPr txBox="1"/>
          <p:nvPr/>
        </p:nvSpPr>
        <p:spPr>
          <a:xfrm>
            <a:off x="777240" y="2880360"/>
            <a:ext cx="4572000" cy="594360"/>
          </a:xfrm>
          <a:prstGeom prst="rect">
            <a:avLst/>
          </a:prstGeom>
          <a:noFill/>
          <a:ln/>
        </p:spPr>
        <p:txBody>
          <a:bodyPr wrap="square" lIns="0" tIns="0" rIns="0" bIns="0" rtlCol="0" anchor="ctr"/>
          <a:lstStyle/>
          <a:p>
            <a:pPr indent="0" marL="0">
              <a:buNone/>
            </a:pPr>
            <a:r>
              <a:rPr lang="en-US" sz="1300" dirty="0">
                <a:solidFill>
                  <a:schemeClr val="tx2"/>
                </a:solidFill>
              </a:rPr>
              <a:t>Errores distintos entre CNN, Transformer e híbrido se compensan. Costo: correr los 4 (≈153 img/s, 134M parám.)</a:t>
            </a:r>
            <a:endParaRPr lang="en-US" sz="1300" dirty="0"/>
          </a:p>
        </p:txBody>
      </p:sp>
      <p:sp>
        <p:nvSpPr>
          <p:cNvPr id="9" name="stat-maxvit"/>
          <p:cNvSpPr/>
          <p:nvPr/>
        </p:nvSpPr>
        <p:spPr>
          <a:xfrm>
            <a:off x="548640" y="3794760"/>
            <a:ext cx="4937760" cy="2377440"/>
          </a:xfrm>
          <a:prstGeom prst="roundRect">
            <a:avLst>
              <a:gd name="adj" fmla="val 4615"/>
            </a:avLst>
          </a:prstGeom>
          <a:solidFill>
            <a:srgbClr val="EEF2F5"/>
          </a:solidFill>
          <a:ln w="12700">
            <a:solidFill>
              <a:srgbClr val="EEF2F5"/>
            </a:solidFill>
            <a:prstDash val="solid"/>
          </a:ln>
        </p:spPr>
      </p:sp>
      <p:sp>
        <p:nvSpPr>
          <p:cNvPr id="10" name="Shape 8"/>
          <p:cNvSpPr/>
          <p:nvPr/>
        </p:nvSpPr>
        <p:spPr>
          <a:xfrm>
            <a:off x="777240" y="4023360"/>
            <a:ext cx="256032" cy="256032"/>
          </a:xfrm>
          <a:prstGeom prst="ellipse">
            <a:avLst/>
          </a:prstGeom>
          <a:solidFill>
            <a:srgbClr val="EDA100"/>
          </a:solidFill>
          <a:ln w="12700">
            <a:solidFill>
              <a:srgbClr val="EDA100"/>
            </a:solidFill>
            <a:prstDash val="solid"/>
          </a:ln>
        </p:spPr>
      </p:sp>
      <p:sp>
        <p:nvSpPr>
          <p:cNvPr id="11" name="Text 9"/>
          <p:cNvSpPr txBox="1"/>
          <p:nvPr/>
        </p:nvSpPr>
        <p:spPr>
          <a:xfrm>
            <a:off x="1143000" y="395935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MaxViT-T (híbrido)</a:t>
            </a:r>
            <a:endParaRPr lang="en-US" sz="1800" dirty="0"/>
          </a:p>
        </p:txBody>
      </p:sp>
      <p:sp>
        <p:nvSpPr>
          <p:cNvPr id="12" name="Text 10"/>
          <p:cNvSpPr txBox="1"/>
          <p:nvPr/>
        </p:nvSpPr>
        <p:spPr>
          <a:xfrm>
            <a:off x="777240" y="4389120"/>
            <a:ext cx="23774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0.733</a:t>
            </a:r>
            <a:endParaRPr lang="en-US" sz="4800" dirty="0"/>
          </a:p>
        </p:txBody>
      </p:sp>
      <p:sp>
        <p:nvSpPr>
          <p:cNvPr id="13" name="Text 11"/>
          <p:cNvSpPr txBox="1"/>
          <p:nvPr/>
        </p:nvSpPr>
        <p:spPr>
          <a:xfrm>
            <a:off x="3108960" y="448056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mejor época: 5 de 5</a:t>
            </a:r>
            <a:endParaRPr lang="en-US" sz="1400" dirty="0"/>
          </a:p>
        </p:txBody>
      </p:sp>
      <p:sp>
        <p:nvSpPr>
          <p:cNvPr id="14" name="Text 12"/>
          <p:cNvSpPr txBox="1"/>
          <p:nvPr/>
        </p:nvSpPr>
        <p:spPr>
          <a:xfrm>
            <a:off x="777240" y="5303520"/>
            <a:ext cx="4572000" cy="777240"/>
          </a:xfrm>
          <a:prstGeom prst="rect">
            <a:avLst/>
          </a:prstGeom>
          <a:noFill/>
          <a:ln/>
        </p:spPr>
        <p:txBody>
          <a:bodyPr wrap="square" lIns="0" tIns="0" rIns="0" bIns="0" rtlCol="0" anchor="ctr"/>
          <a:lstStyle/>
          <a:p>
            <a:pPr indent="0" marL="0">
              <a:buNone/>
            </a:pPr>
            <a:r>
              <a:rPr lang="en-US" sz="1300" dirty="0">
                <a:solidFill>
                  <a:schemeClr val="tx2"/>
                </a:solidFill>
              </a:rPr>
              <a:t>Su pérdida de validación seguía bajando: con 5 épocas y solo la última capa entrenable, no llegó a converger.</a:t>
            </a:r>
            <a:endParaRPr lang="en-US" sz="1300" dirty="0"/>
          </a:p>
        </p:txBody>
      </p:sp>
      <p:pic>
        <p:nvPicPr>
          <p:cNvPr id="15" name="curvas-convergencia" descr="curvas-convergencia">    </p:cNvPr>
          <p:cNvPicPr>
            <a:picLocks noChangeAspect="1"/>
          </p:cNvPicPr>
          <p:nvPr/>
        </p:nvPicPr>
        <p:blipFill>
          <a:blip r:embed="rId1"/>
          <a:stretch>
            <a:fillRect/>
          </a:stretch>
        </p:blipFill>
        <p:spPr>
          <a:xfrm>
            <a:off x="5760720" y="1681843"/>
            <a:ext cx="5852160" cy="418011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177962" y="1234440"/>
            <a:ext cx="4776395" cy="507492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0.86</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0.84</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0.63</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cuatro modelos. Los hallazgos con pocos positivos en prueba (p. ej. Hernia, n=8)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 y MaxViT: ~13× más lentos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Tiempo total de entrenamiento (5 épocas): DenseNet121 190 s · ResNet18 187 s · ViT-B/16 275 s · MaxViT-T 215 s. Entre los modelos individuales, ResNet18 es el mejor compromiso: el más rápido y el que menos memoria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670560" y="1188720"/>
            <a:ext cx="6339840" cy="4754880"/>
          </a:xfrm>
          <a:prstGeom prst="rect">
            <a:avLst/>
          </a:prstGeom>
        </p:spPr>
      </p:pic>
      <p:pic>
        <p:nvPicPr>
          <p:cNvPr id="4" name="atencion-vit" descr="atencion-vit">    </p:cNvPr>
          <p:cNvPicPr>
            <a:picLocks noChangeAspect="1"/>
          </p:cNvPicPr>
          <p:nvPr/>
        </p:nvPicPr>
        <p:blipFill>
          <a:blip r:embed="rId2"/>
          <a:stretch>
            <a:fillRect/>
          </a:stretch>
        </p:blipFill>
        <p:spPr>
          <a:xfrm>
            <a:off x="7406640" y="1325880"/>
            <a:ext cx="4480560" cy="4480560"/>
          </a:xfrm>
          <a:prstGeom prst="rect">
            <a:avLst/>
          </a:prstGeom>
        </p:spPr>
      </p:pic>
      <p:sp>
        <p:nvSpPr>
          <p:cNvPr id="5" name="Text 1"/>
          <p:cNvSpPr txBox="1"/>
          <p:nvPr/>
        </p:nvSpPr>
        <p:spPr>
          <a:xfrm>
            <a:off x="365760" y="5989320"/>
            <a:ext cx="6949440" cy="365760"/>
          </a:xfrm>
          <a:prstGeom prst="rect">
            <a:avLst/>
          </a:prstGeom>
          <a:noFill/>
          <a:ln/>
        </p:spPr>
        <p:txBody>
          <a:bodyPr wrap="square" lIns="0" tIns="0" rIns="0" bIns="0" rtlCol="0" anchor="ctr"/>
          <a:lstStyle/>
          <a:p>
            <a:pPr algn="ctr" indent="0" marL="0">
              <a:buNone/>
            </a:pPr>
            <a:r>
              <a:rPr lang="en-US" sz="1300" dirty="0">
                <a:solidFill>
                  <a:schemeClr val="accent5"/>
                </a:solidFill>
              </a:rPr>
              <a:t>Grad-CAM: DenseNet121, ResNet18 y MaxViT-T (híbrido), para la clase real</a:t>
            </a:r>
            <a:endParaRPr lang="en-US" sz="1300" dirty="0"/>
          </a:p>
        </p:txBody>
      </p:sp>
      <p:sp>
        <p:nvSpPr>
          <p:cNvPr id="6" name="Text 2"/>
          <p:cNvSpPr txBox="1"/>
          <p:nvPr/>
        </p:nvSpPr>
        <p:spPr>
          <a:xfrm>
            <a:off x="7406640" y="5989320"/>
            <a:ext cx="4480560" cy="365760"/>
          </a:xfrm>
          <a:prstGeom prst="rect">
            <a:avLst/>
          </a:prstGeom>
          <a:noFill/>
          <a:ln/>
        </p:spPr>
        <p:txBody>
          <a:bodyPr wrap="square" lIns="0" tIns="0" rIns="0" bIns="0" rtlCol="0" anchor="ctr"/>
          <a:lstStyle/>
          <a:p>
            <a:pPr algn="ctr" indent="0" marL="0">
              <a:buNone/>
            </a:pPr>
            <a:r>
              <a:rPr lang="en-US" sz="1300" dirty="0">
                <a:solidFill>
                  <a:schemeClr val="accent5"/>
                </a:solidFill>
              </a:rPr>
              <a:t>ViT-B/16: atención del último bloque y rollout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399032"/>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325880"/>
            <a:ext cx="10515600" cy="91440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CNN, Transformer e híbrido rinden igual con este presupuesto (AUROC 0.73–0.75); la dificultad depende más del hallazgo que de la arquitectura.</a:t>
            </a:r>
            <a:endParaRPr lang="en-US" sz="1800" dirty="0"/>
          </a:p>
        </p:txBody>
      </p:sp>
      <p:sp>
        <p:nvSpPr>
          <p:cNvPr id="5" name="Shape 3"/>
          <p:cNvSpPr/>
          <p:nvPr/>
        </p:nvSpPr>
        <p:spPr>
          <a:xfrm>
            <a:off x="548640" y="2423160"/>
            <a:ext cx="274320" cy="274320"/>
          </a:xfrm>
          <a:prstGeom prst="ellipse">
            <a:avLst/>
          </a:prstGeom>
          <a:solidFill>
            <a:srgbClr val="6250D6"/>
          </a:solidFill>
          <a:ln w="12700">
            <a:solidFill>
              <a:srgbClr val="6250D6"/>
            </a:solidFill>
            <a:prstDash val="solid"/>
          </a:ln>
        </p:spPr>
      </p:sp>
      <p:sp>
        <p:nvSpPr>
          <p:cNvPr id="6" name="Text 4"/>
          <p:cNvSpPr txBox="1"/>
          <p:nvPr/>
        </p:nvSpPr>
        <p:spPr>
          <a:xfrm>
            <a:off x="1051560" y="2350008"/>
            <a:ext cx="10515600" cy="914400"/>
          </a:xfrm>
          <a:prstGeom prst="rect">
            <a:avLst/>
          </a:prstGeom>
          <a:noFill/>
          <a:ln/>
        </p:spPr>
        <p:txBody>
          <a:bodyPr wrap="square" lIns="0" tIns="0" rIns="0" bIns="0" rtlCol="0" anchor="t"/>
          <a:lstStyle/>
          <a:p>
            <a:pPr indent="0" marL="0">
              <a:buNone/>
            </a:pPr>
            <a:r>
              <a:rPr lang="en-US" sz="1800" b="1" dirty="0">
                <a:solidFill>
                  <a:schemeClr val="bg1"/>
                </a:solidFill>
              </a:rPr>
              <a:t>Ensemble e híbrido</a:t>
            </a:r>
            <a:endParaRPr lang="en-US" sz="1800" dirty="0"/>
          </a:p>
          <a:p>
            <a:pPr indent="0" marL="0">
              <a:buNone/>
            </a:pPr>
            <a:r>
              <a:rPr lang="en-US" sz="1500" dirty="0">
                <a:solidFill>
                  <a:schemeClr val="accent6"/>
                </a:solidFill>
              </a:rPr>
              <a:t>Combinar los cuatro mejora a todos (AUROC 0.767). El híbrido necesita más entrenamiento para mostrar su ventaja.</a:t>
            </a:r>
            <a:endParaRPr lang="en-US" sz="1800" dirty="0"/>
          </a:p>
        </p:txBody>
      </p:sp>
      <p:sp>
        <p:nvSpPr>
          <p:cNvPr id="7" name="Shape 5"/>
          <p:cNvSpPr/>
          <p:nvPr/>
        </p:nvSpPr>
        <p:spPr>
          <a:xfrm>
            <a:off x="548640" y="3447288"/>
            <a:ext cx="274320" cy="274320"/>
          </a:xfrm>
          <a:prstGeom prst="ellipse">
            <a:avLst/>
          </a:prstGeom>
          <a:solidFill>
            <a:srgbClr val="EB6834"/>
          </a:solidFill>
          <a:ln w="12700">
            <a:solidFill>
              <a:srgbClr val="EB6834"/>
            </a:solidFill>
            <a:prstDash val="solid"/>
          </a:ln>
        </p:spPr>
      </p:sp>
      <p:sp>
        <p:nvSpPr>
          <p:cNvPr id="8" name="Text 6"/>
          <p:cNvSpPr txBox="1"/>
          <p:nvPr/>
        </p:nvSpPr>
        <p:spPr>
          <a:xfrm>
            <a:off x="1051560" y="3374136"/>
            <a:ext cx="10515600" cy="91440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individual; ViT y MaxViT son ~13× más lentos sin rendir más.</a:t>
            </a:r>
            <a:endParaRPr lang="en-US" sz="1800" dirty="0"/>
          </a:p>
        </p:txBody>
      </p:sp>
      <p:sp>
        <p:nvSpPr>
          <p:cNvPr id="9" name="Shape 7"/>
          <p:cNvSpPr/>
          <p:nvPr/>
        </p:nvSpPr>
        <p:spPr>
          <a:xfrm>
            <a:off x="548640" y="4471416"/>
            <a:ext cx="274320" cy="274320"/>
          </a:xfrm>
          <a:prstGeom prst="ellipse">
            <a:avLst/>
          </a:prstGeom>
          <a:solidFill>
            <a:srgbClr val="1BAF7A"/>
          </a:solidFill>
          <a:ln w="12700">
            <a:solidFill>
              <a:srgbClr val="1BAF7A"/>
            </a:solidFill>
            <a:prstDash val="solid"/>
          </a:ln>
        </p:spPr>
      </p:sp>
      <p:sp>
        <p:nvSpPr>
          <p:cNvPr id="10" name="Text 8"/>
          <p:cNvSpPr txBox="1"/>
          <p:nvPr/>
        </p:nvSpPr>
        <p:spPr>
          <a:xfrm>
            <a:off x="1051560" y="4398264"/>
            <a:ext cx="10515600" cy="91440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en validación, intervalos de confianza y repetir el experimento evitaron sobreinterpretar diferencias pequeñas.</a:t>
            </a:r>
            <a:endParaRPr lang="en-US" sz="1800" dirty="0"/>
          </a:p>
        </p:txBody>
      </p:sp>
      <p:sp>
        <p:nvSpPr>
          <p:cNvPr id="11" name="Text 9"/>
          <p:cNvSpPr txBox="1"/>
          <p:nvPr/>
        </p:nvSpPr>
        <p:spPr>
          <a:xfrm>
            <a:off x="548640" y="5440680"/>
            <a:ext cx="11064240" cy="822960"/>
          </a:xfrm>
          <a:prstGeom prst="rect">
            <a:avLst/>
          </a:prstGeom>
          <a:noFill/>
          <a:ln/>
        </p:spPr>
        <p:txBody>
          <a:bodyPr wrap="square" lIns="0" tIns="0" rIns="0" bIns="0" rtlCol="0" anchor="ctr"/>
          <a:lstStyle/>
          <a:p>
            <a:pPr indent="0" marL="0">
              <a:buNone/>
            </a:pPr>
            <a:r>
              <a:rPr lang="en-US" sz="1300" i="1" dirty="0">
                <a:solidFill>
                  <a:schemeClr val="accent6"/>
                </a:solidFill>
              </a:rPr>
              <a:t>Limitaciones: subconjunto de 12k imágenes (11%), etiquetas ruidosas, 5 épocas con backbone casi congelado, una semilla por corrida, 224 px. Trabajo futuro: las 112k imágenes y fine-tuning completo, aprendizaje auto-supervisado sobre radiografías sin etiquetar, y multimodalidad (edad, sexo, proyección y texto del reporte).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EDA100"/>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 Transformer e híbrido CNN-Transformer en NIH ChestX-ray14</dc:title>
  <dc:subject>PptxGenJS Presentation</dc:subject>
  <dc:creator>Alfredo Gallegos López</dc:creator>
  <cp:lastModifiedBy>Alfredo Gallegos López</cp:lastModifiedBy>
  <cp:revision>1</cp:revision>
  <dcterms:created xsi:type="dcterms:W3CDTF">2026-10-15T09:42:54Z</dcterms:created>
  <dcterms:modified xsi:type="dcterms:W3CDTF">2026-10-15T09:42:54Z</dcterms:modified>
</cp:coreProperties>
</file>