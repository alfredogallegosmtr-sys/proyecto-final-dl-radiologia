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64b9807c-05f4-2f17-6bb7-4a456ba3a09c}">
          <p14:sldIdLst>
            <p14:sldId id="256"/>
            <p14:sldId id="257"/>
          </p14:sldIdLst>
        </p14:section>
        <p14:section name="Método" id="{041ccc56-d470-9304-b2d7-4cd8058ef9a6}">
          <p14:sldIdLst>
            <p14:sldId id="258"/>
          </p14:sldIdLst>
        </p14:section>
        <p14:section name="Resultados" id="{8a102ba8-d8fb-221f-f9b4-f66c162d0031}">
          <p14:sldIdLst>
            <p14:sldId id="259"/>
            <p14:sldId id="260"/>
            <p14:sldId id="261"/>
            <p14:sldId id="262"/>
          </p14:sldIdLst>
        </p14:section>
        <p14:section name="Cierre" id="{a50e371e-82e6-eae7-55b2-2751b7fc013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cat>
            <c:multiLvlStrRef>
              <c:f>Sheet1!$A$2:$A$4</c:f>
              <c:multiLvlStrCache>
                <c:ptCount val="3"/>
                <c:lvl>
                  <c:pt idx="0">
                    <c:v>DenseNet121</c:v>
                  </c:pt>
                  <c:pt idx="1">
                    <c:v>ResNet18</c:v>
                  </c:pt>
                  <c:pt idx="2">
                    <c:v>ViT-B/16</c:v>
                  </c:pt>
                </c:lvl>
              </c:multiLvlStrCache>
            </c:multiLvlStrRef>
          </c:cat>
          <c:val>
            <c:numRef>
              <c:f>Sheet1!$B$2:$B$4</c:f>
              <c:numCache>
                <c:formatCode>General</c:formatCode>
                <c:ptCount val="3"/>
                <c:pt idx="0">
                  <c:v>7</c:v>
                </c:pt>
                <c:pt idx="1">
                  <c:v>11.2</c:v>
                </c:pt>
                <c:pt idx="2">
                  <c:v>85.8</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cat>
            <c:multiLvlStrRef>
              <c:f>Sheet1!$A$2:$A$4</c:f>
              <c:multiLvlStrCache>
                <c:ptCount val="3"/>
                <c:lvl>
                  <c:pt idx="0">
                    <c:v>DenseNet121</c:v>
                  </c:pt>
                  <c:pt idx="1">
                    <c:v>ResNet18</c:v>
                  </c:pt>
                  <c:pt idx="2">
                    <c:v>ViT-B/16</c:v>
                  </c:pt>
                </c:lvl>
              </c:multiLvlStrCache>
            </c:multiLvlStrRef>
          </c:cat>
          <c:val>
            <c:numRef>
              <c:f>Sheet1!$B$2:$B$4</c:f>
              <c:numCache>
                <c:formatCode>General</c:formatCode>
                <c:ptCount val="3"/>
                <c:pt idx="0">
                  <c:v>442</c:v>
                </c:pt>
                <c:pt idx="1">
                  <c:v>418</c:v>
                </c:pt>
                <c:pt idx="2">
                  <c:v>980</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cat>
            <c:multiLvlStrRef>
              <c:f>Sheet1!$A$2:$A$4</c:f>
              <c:multiLvlStrCache>
                <c:ptCount val="3"/>
                <c:lvl>
                  <c:pt idx="0">
                    <c:v>DenseNet121</c:v>
                  </c:pt>
                  <c:pt idx="1">
                    <c:v>ResNet18</c:v>
                  </c:pt>
                  <c:pt idx="2">
                    <c:v>ViT-B/16</c:v>
                  </c:pt>
                </c:lvl>
              </c:multiLvlStrCache>
            </c:multiLvlStrRef>
          </c:cat>
          <c:val>
            <c:numRef>
              <c:f>Sheet1!$B$2:$B$4</c:f>
              <c:numCache>
                <c:formatCode>General</c:formatCode>
                <c:ptCount val="3"/>
                <c:pt idx="0">
                  <c:v>1145</c:v>
                </c:pt>
                <c:pt idx="1">
                  <c:v>4653</c:v>
                </c:pt>
                <c:pt idx="2">
                  <c:v>359</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una comparación de tres arquitecturas de deep learning para detectar 14 hallazgos en radiografías de tórax: dos redes convolucionales, DenseNet121 y ResNet18, y un Vision Transformer, ViT-B/16. La pregunta es si el Transformer, que domina en visión natural, aporta algo en este problema bajo un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NIH ChestX-ray14 tiene 112 mil radiografías de unos 30 mil pacientes, con 14 hallazgos que pueden aparecer juntos en la misma imagen. Las etiquetas se extrajeron automáticamente de los reportes, así que tienen ruido. Y las clases están muy desbalanceadas: Hernia aparece en 0.2% de las imágenes e Infiltration en 18%. Esto define cómo hay que evaluar: la exactitud no sirve, usamos AUROC.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modelos se entrenan exactamente igual: mismos datos, misma partición, mismas épocas y optimizador. Dos decisiones importantes: la partición es por paciente, para que el modelo nunca se evalúe sobre un paciente que ya vio; y el umbral de decisión de cada clase se elige en validación, porque con clases tan raras un umbral de 0.5 casi nunca predice positivos. Las diferencias se reportan con intervalos de confianza por bootstrap.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métrica principal es el AUROC promedio sobre las 14 clases. ResNet18 obtiene el valor más alto, 0.760. Según la comparación pareada por bootstrap, las únicas diferencias significativas son: ResNet18 &gt; DenseNet121 (+0.018). Dos aprendizajes metodológicos: la exactitud es igual a la de un modelo que siempre dice 'sano', así que no sirve; y elegir el umbral en validación es lo que hace que el F1 sea informativo.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entre clases son mucho mayores que entre modelos. Los hallazgos más fáciles son Emphysema, Edema, Effusion; los más difíciles, Pneumonia, Nodule, Infiltration, que son sutiles o pequeños, como los nódulos, o con etiquetas ambiguas, como neumonía e infiltración. Los tres modelos tienen el mismo patrón, lo que sugiere que el límite está en los datos y no en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es donde los modelos sí se separan. El ViT tiene 12 veces los parámetros de DenseNet121, usa 2.3 veces su memoria y en inferencia es 13 veces más lento que ResNet18. Como el desempeño es prácticamente igual, en este escenario el Transformer no compensa su costo. Nota: en ROCm el ViT no tiene la atención eficiente en memoria, así que sus cifras son algo pesimistas.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mapas de Grad-CAM muestran que en algunos casos el modelo mira la región correcta, por ejemplo el derrame en la base del pulmón; pero en otros mira bordes de la imagen o marcas de texto. Eso es una señal de posibles atajos, un problema conocido en este dataset. Para el ViT, el attention rollout combina los 12 bloques y es más estable que la atención de la última capa. Son ejemplos cualitativos, no una medida de localización.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con el mismo presupuesto, el Transformer no supera a las CNN en este problema y cuesta mucho más; ResNet18 es la opción más eficiente. Y metodológicamente, lo que más cambió las conclusiones fue evaluar bien: partir por paciente, elegir umbrales en validación y reportar intervalos de confianza.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o Transformer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y ViT-B/16 en NIH ChestX-ray14</a:t>
            </a:r>
            <a:endParaRPr lang="en-US" sz="1800" dirty="0"/>
          </a:p>
          <a:p>
            <a:pPr indent="0" marL="0">
              <a:buNone/>
            </a:pPr>
            <a:r>
              <a:rPr lang="en-US" sz="1400" dirty="0">
                <a:solidFill>
                  <a:schemeClr val="accent6"/>
                </a:solidFill>
              </a:rPr>
              <a:t>Alfredo Gallegos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tres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 ningún paciente en dos conjuntos</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Entrenamiento</a:t>
            </a:r>
            <a:endParaRPr lang="en-US" sz="1800" dirty="0"/>
          </a:p>
          <a:p>
            <a:pPr indent="0" marL="0">
              <a:buNone/>
            </a:pPr>
            <a:r>
              <a:rPr lang="en-US" sz="1400" dirty="0">
                <a:solidFill>
                  <a:schemeClr val="tx2"/>
                </a:solidFill>
              </a:rPr>
              <a:t>Pesos de ImageNet; solo el último bloque + capa de 14 salidas.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por clase, F1 con umbral elegido en validación, IC 95% por bootstrap y comparación pareada</a:t>
            </a:r>
            <a:endParaRPr lang="en-US" sz="1800" dirty="0"/>
          </a:p>
        </p:txBody>
      </p:sp>
      <p:sp>
        <p:nvSpPr>
          <p:cNvPr id="15" name="modelo-densenet121"/>
          <p:cNvSpPr/>
          <p:nvPr/>
        </p:nvSpPr>
        <p:spPr>
          <a:xfrm>
            <a:off x="6949440" y="1371600"/>
            <a:ext cx="4663440" cy="1371600"/>
          </a:xfrm>
          <a:prstGeom prst="roundRect">
            <a:avLst>
              <a:gd name="adj" fmla="val 8000"/>
            </a:avLst>
          </a:prstGeom>
          <a:solidFill>
            <a:srgbClr val="EEF2F5"/>
          </a:solidFill>
          <a:ln w="12700">
            <a:solidFill>
              <a:srgbClr val="EEF2F5"/>
            </a:solidFill>
            <a:prstDash val="solid"/>
          </a:ln>
        </p:spPr>
      </p:sp>
      <p:sp>
        <p:nvSpPr>
          <p:cNvPr id="16" name="Shape 14"/>
          <p:cNvSpPr/>
          <p:nvPr/>
        </p:nvSpPr>
        <p:spPr>
          <a:xfrm>
            <a:off x="7178040" y="1627632"/>
            <a:ext cx="274320" cy="274320"/>
          </a:xfrm>
          <a:prstGeom prst="ellipse">
            <a:avLst/>
          </a:prstGeom>
          <a:solidFill>
            <a:srgbClr val="2A78D6"/>
          </a:solidFill>
          <a:ln w="12700">
            <a:solidFill>
              <a:srgbClr val="2A78D6"/>
            </a:solidFill>
            <a:prstDash val="solid"/>
          </a:ln>
        </p:spPr>
      </p:sp>
      <p:sp>
        <p:nvSpPr>
          <p:cNvPr id="17" name="Text 15"/>
          <p:cNvSpPr txBox="1"/>
          <p:nvPr/>
        </p:nvSpPr>
        <p:spPr>
          <a:xfrm>
            <a:off x="7589520" y="1508760"/>
            <a:ext cx="384048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DenseNet121</a:t>
            </a:r>
            <a:endParaRPr lang="en-US" sz="2000" dirty="0"/>
          </a:p>
        </p:txBody>
      </p:sp>
      <p:sp>
        <p:nvSpPr>
          <p:cNvPr id="18" name="Text 16"/>
          <p:cNvSpPr txBox="1"/>
          <p:nvPr/>
        </p:nvSpPr>
        <p:spPr>
          <a:xfrm>
            <a:off x="7589520" y="2011680"/>
            <a:ext cx="3840480" cy="640080"/>
          </a:xfrm>
          <a:prstGeom prst="rect">
            <a:avLst/>
          </a:prstGeom>
          <a:noFill/>
          <a:ln/>
        </p:spPr>
        <p:txBody>
          <a:bodyPr wrap="square" lIns="0" tIns="0" rIns="0" bIns="0" rtlCol="0" anchor="ctr"/>
          <a:lstStyle/>
          <a:p>
            <a:pPr indent="0" marL="0">
              <a:buNone/>
            </a:pPr>
            <a:r>
              <a:rPr lang="en-US" sz="1400" dirty="0">
                <a:solidFill>
                  <a:schemeClr val="tx2"/>
                </a:solidFill>
              </a:rPr>
              <a:t>CNN · conexiones densas (base de CheXNet)</a:t>
            </a:r>
            <a:endParaRPr lang="en-US" sz="1400" dirty="0"/>
          </a:p>
          <a:p>
            <a:pPr indent="0" marL="0">
              <a:buNone/>
            </a:pPr>
            <a:r>
              <a:rPr lang="en-US" sz="1400" dirty="0">
                <a:solidFill>
                  <a:schemeClr val="tx2"/>
                </a:solidFill>
              </a:rPr>
              <a:t>7.0M parámetros · 2.2M entrenables</a:t>
            </a:r>
            <a:endParaRPr lang="en-US" sz="1400" dirty="0"/>
          </a:p>
        </p:txBody>
      </p:sp>
      <p:sp>
        <p:nvSpPr>
          <p:cNvPr id="19" name="modelo-resnet18"/>
          <p:cNvSpPr/>
          <p:nvPr/>
        </p:nvSpPr>
        <p:spPr>
          <a:xfrm>
            <a:off x="6949440" y="2971800"/>
            <a:ext cx="4663440" cy="1371600"/>
          </a:xfrm>
          <a:prstGeom prst="roundRect">
            <a:avLst>
              <a:gd name="adj" fmla="val 8000"/>
            </a:avLst>
          </a:prstGeom>
          <a:solidFill>
            <a:srgbClr val="EEF2F5"/>
          </a:solidFill>
          <a:ln w="12700">
            <a:solidFill>
              <a:srgbClr val="EEF2F5"/>
            </a:solidFill>
            <a:prstDash val="solid"/>
          </a:ln>
        </p:spPr>
      </p:sp>
      <p:sp>
        <p:nvSpPr>
          <p:cNvPr id="20" name="Shape 18"/>
          <p:cNvSpPr/>
          <p:nvPr/>
        </p:nvSpPr>
        <p:spPr>
          <a:xfrm>
            <a:off x="7178040" y="3227832"/>
            <a:ext cx="274320" cy="274320"/>
          </a:xfrm>
          <a:prstGeom prst="ellipse">
            <a:avLst/>
          </a:prstGeom>
          <a:solidFill>
            <a:srgbClr val="EB6834"/>
          </a:solidFill>
          <a:ln w="12700">
            <a:solidFill>
              <a:srgbClr val="EB6834"/>
            </a:solidFill>
            <a:prstDash val="solid"/>
          </a:ln>
        </p:spPr>
      </p:sp>
      <p:sp>
        <p:nvSpPr>
          <p:cNvPr id="21" name="Text 19"/>
          <p:cNvSpPr txBox="1"/>
          <p:nvPr/>
        </p:nvSpPr>
        <p:spPr>
          <a:xfrm>
            <a:off x="7589520" y="3108960"/>
            <a:ext cx="384048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ResNet18</a:t>
            </a:r>
            <a:endParaRPr lang="en-US" sz="2000" dirty="0"/>
          </a:p>
        </p:txBody>
      </p:sp>
      <p:sp>
        <p:nvSpPr>
          <p:cNvPr id="22" name="Text 20"/>
          <p:cNvSpPr txBox="1"/>
          <p:nvPr/>
        </p:nvSpPr>
        <p:spPr>
          <a:xfrm>
            <a:off x="7589520" y="3611880"/>
            <a:ext cx="3840480" cy="640080"/>
          </a:xfrm>
          <a:prstGeom prst="rect">
            <a:avLst/>
          </a:prstGeom>
          <a:noFill/>
          <a:ln/>
        </p:spPr>
        <p:txBody>
          <a:bodyPr wrap="square" lIns="0" tIns="0" rIns="0" bIns="0" rtlCol="0" anchor="ctr"/>
          <a:lstStyle/>
          <a:p>
            <a:pPr indent="0" marL="0">
              <a:buNone/>
            </a:pPr>
            <a:r>
              <a:rPr lang="en-US" sz="1400" dirty="0">
                <a:solidFill>
                  <a:schemeClr val="tx2"/>
                </a:solidFill>
              </a:rPr>
              <a:t>CNN · conexiones residuales</a:t>
            </a:r>
            <a:endParaRPr lang="en-US" sz="1400" dirty="0"/>
          </a:p>
          <a:p>
            <a:pPr indent="0" marL="0">
              <a:buNone/>
            </a:pPr>
            <a:r>
              <a:rPr lang="en-US" sz="1400" dirty="0">
                <a:solidFill>
                  <a:schemeClr val="tx2"/>
                </a:solidFill>
              </a:rPr>
              <a:t>11.2M parámetros · 8.4M entrenables</a:t>
            </a:r>
            <a:endParaRPr lang="en-US" sz="1400" dirty="0"/>
          </a:p>
        </p:txBody>
      </p:sp>
      <p:sp>
        <p:nvSpPr>
          <p:cNvPr id="23" name="modelo-vit_b_16"/>
          <p:cNvSpPr/>
          <p:nvPr/>
        </p:nvSpPr>
        <p:spPr>
          <a:xfrm>
            <a:off x="6949440" y="4572000"/>
            <a:ext cx="4663440" cy="1371600"/>
          </a:xfrm>
          <a:prstGeom prst="roundRect">
            <a:avLst>
              <a:gd name="adj" fmla="val 8000"/>
            </a:avLst>
          </a:prstGeom>
          <a:solidFill>
            <a:srgbClr val="EEF2F5"/>
          </a:solidFill>
          <a:ln w="12700">
            <a:solidFill>
              <a:srgbClr val="EEF2F5"/>
            </a:solidFill>
            <a:prstDash val="solid"/>
          </a:ln>
        </p:spPr>
      </p:sp>
      <p:sp>
        <p:nvSpPr>
          <p:cNvPr id="24" name="Shape 22"/>
          <p:cNvSpPr/>
          <p:nvPr/>
        </p:nvSpPr>
        <p:spPr>
          <a:xfrm>
            <a:off x="7178040" y="4828032"/>
            <a:ext cx="274320" cy="274320"/>
          </a:xfrm>
          <a:prstGeom prst="ellipse">
            <a:avLst/>
          </a:prstGeom>
          <a:solidFill>
            <a:srgbClr val="1BAF7A"/>
          </a:solidFill>
          <a:ln w="12700">
            <a:solidFill>
              <a:srgbClr val="1BAF7A"/>
            </a:solidFill>
            <a:prstDash val="solid"/>
          </a:ln>
        </p:spPr>
      </p:sp>
      <p:sp>
        <p:nvSpPr>
          <p:cNvPr id="25" name="Text 23"/>
          <p:cNvSpPr txBox="1"/>
          <p:nvPr/>
        </p:nvSpPr>
        <p:spPr>
          <a:xfrm>
            <a:off x="7589520" y="4709160"/>
            <a:ext cx="384048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ViT-B/16</a:t>
            </a:r>
            <a:endParaRPr lang="en-US" sz="2000" dirty="0"/>
          </a:p>
        </p:txBody>
      </p:sp>
      <p:sp>
        <p:nvSpPr>
          <p:cNvPr id="26" name="Text 24"/>
          <p:cNvSpPr txBox="1"/>
          <p:nvPr/>
        </p:nvSpPr>
        <p:spPr>
          <a:xfrm>
            <a:off x="7589520" y="5212080"/>
            <a:ext cx="3840480" cy="640080"/>
          </a:xfrm>
          <a:prstGeom prst="rect">
            <a:avLst/>
          </a:prstGeom>
          <a:noFill/>
          <a:ln/>
        </p:spPr>
        <p:txBody>
          <a:bodyPr wrap="square" lIns="0" tIns="0" rIns="0" bIns="0" rtlCol="0" anchor="ctr"/>
          <a:lstStyle/>
          <a:p>
            <a:pPr indent="0" marL="0">
              <a:buNone/>
            </a:pPr>
            <a:r>
              <a:rPr lang="en-US" sz="1400" dirty="0">
                <a:solidFill>
                  <a:schemeClr val="tx2"/>
                </a:solidFill>
              </a:rPr>
              <a:t>Transformer · 12 bloques de auto-atención</a:t>
            </a:r>
            <a:endParaRPr lang="en-US" sz="1400" dirty="0"/>
          </a:p>
          <a:p>
            <a:pPr indent="0" marL="0">
              <a:buNone/>
            </a:pPr>
            <a:r>
              <a:rPr lang="en-US" sz="1400" dirty="0">
                <a:solidFill>
                  <a:schemeClr val="tx2"/>
                </a:solidFill>
              </a:rPr>
              <a:t>85.8M parámetros · 7.1M entrenables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Los tres modelos rinden casi igual (AUROC 0.74–0.76)</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gridCol w="3383280"/>
                <a:gridCol w="1737360"/>
                <a:gridCol w="1737360"/>
                <a:gridCol w="1828800"/>
              </a:tblGrid>
              <a:tr h="548640">
                <a:tc>
                  <a:txBody>
                    <a:bodyPr/>
                    <a:lstStyle/>
                    <a:p>
                      <a:pPr algn="ctr" indent="0" marL="0">
                        <a:buNone/>
                      </a:pPr>
                      <a:r>
                        <a:rPr lang="en-US" sz="1600" b="1" dirty="0">
                          <a:solidFill>
                            <a:srgbClr val="FFFFFF"/>
                          </a:solidFill>
                        </a:rPr>
                        <a:t>Modelo</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600" b="1" dirty="0">
                          <a:solidFill>
                            <a:srgbClr val="FFFFFF"/>
                          </a:solidFill>
                        </a:rPr>
                        <a:t>AUROC macro [IC 95%]</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600" b="1" dirty="0">
                          <a:solidFill>
                            <a:srgbClr val="FFFFFF"/>
                          </a:solidFill>
                        </a:rPr>
                        <a:t>F1 macro</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600" b="1" dirty="0">
                          <a:solidFill>
                            <a:srgbClr val="FFFFFF"/>
                          </a:solidFill>
                        </a:rPr>
                        <a:t>F1 micro</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600" b="1" dirty="0">
                          <a:solidFill>
                            <a:srgbClr val="FFFFFF"/>
                          </a:solidFill>
                        </a:rPr>
                        <a:t>Mejor época</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548640">
                <a:tc>
                  <a:txBody>
                    <a:bodyPr/>
                    <a:lstStyle/>
                    <a:p>
                      <a:pPr indent="0" marL="0">
                        <a:buNone/>
                      </a:pPr>
                      <a:r>
                        <a:rPr lang="en-US" sz="1600" dirty="0">
                          <a:solidFill>
                            <a:srgbClr val="2A78D6"/>
                          </a:solidFill>
                        </a:rPr>
                        <a:t>●  </a:t>
                      </a:r>
                      <a:pPr indent="0" marL="0">
                        <a:buNone/>
                      </a:pPr>
                      <a:r>
                        <a:rPr lang="en-US" sz="1600" b="1" dirty="0">
                          <a:solidFill>
                            <a:srgbClr val="1B2430"/>
                          </a:solidFill>
                        </a:rPr>
                        <a:t>DenseNet121</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0.742  [0.717, 0.767]</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0.185</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0.248</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2</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EB6834"/>
                          </a:solidFill>
                        </a:rPr>
                        <a:t>●  </a:t>
                      </a:r>
                      <a:pPr indent="0" marL="0">
                        <a:buNone/>
                      </a:pPr>
                      <a:r>
                        <a:rPr lang="en-US" sz="1600" b="1" dirty="0">
                          <a:solidFill>
                            <a:srgbClr val="1B2430"/>
                          </a:solidFill>
                        </a:rPr>
                        <a:t>ResNet18</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1B2430"/>
                          </a:solidFill>
                        </a:rPr>
                        <a:t>0.760  [0.736, 0.781]</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0.186</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0.264</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2</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BAF7A"/>
                          </a:solidFill>
                        </a:rPr>
                        <a:t>●  </a:t>
                      </a:r>
                      <a:pPr indent="0" marL="0">
                        <a:buNone/>
                      </a:pPr>
                      <a:r>
                        <a:rPr lang="en-US" sz="1600" b="1" dirty="0">
                          <a:solidFill>
                            <a:srgbClr val="1B2430"/>
                          </a:solidFill>
                        </a:rPr>
                        <a:t>ViT-B/16</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0.745  [0.718, 0.769]</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0.186</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0.249</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430"/>
                          </a:solidFill>
                        </a:rPr>
                        <a:t>3</a:t>
                      </a:r>
                      <a:endParaRPr lang="en-US" sz="16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bl>
          </a:graphicData>
        </a:graphic>
      </p:graphicFrame>
      <p:sp>
        <p:nvSpPr>
          <p:cNvPr id="4" name="hallazgo-0"/>
          <p:cNvSpPr/>
          <p:nvPr/>
        </p:nvSpPr>
        <p:spPr>
          <a:xfrm>
            <a:off x="548640" y="4023360"/>
            <a:ext cx="3520440" cy="1463040"/>
          </a:xfrm>
          <a:prstGeom prst="roundRect">
            <a:avLst>
              <a:gd name="adj" fmla="val 7500"/>
            </a:avLst>
          </a:prstGeom>
          <a:solidFill>
            <a:srgbClr val="EEF2F5"/>
          </a:solidFill>
          <a:ln w="12700">
            <a:solidFill>
              <a:srgbClr val="EEF2F5"/>
            </a:solidFill>
            <a:prstDash val="solid"/>
          </a:ln>
        </p:spPr>
      </p:sp>
      <p:sp>
        <p:nvSpPr>
          <p:cNvPr id="5" name="Text 2"/>
          <p:cNvSpPr txBox="1"/>
          <p:nvPr/>
        </p:nvSpPr>
        <p:spPr>
          <a:xfrm>
            <a:off x="777240" y="420624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Diferencias significativas (AUROC)</a:t>
            </a:r>
            <a:endParaRPr lang="en-US" sz="1600" dirty="0"/>
          </a:p>
          <a:p>
            <a:pPr indent="0" marL="0">
              <a:spcAft>
                <a:spcPts val="600"/>
              </a:spcAft>
              <a:buNone/>
            </a:pPr>
            <a:r>
              <a:rPr lang="en-US" sz="1400" dirty="0">
                <a:solidFill>
                  <a:schemeClr val="tx2"/>
                </a:solidFill>
              </a:rPr>
              <a:t>ResNet18 &gt; DenseNet121 (+0.018)</a:t>
            </a:r>
            <a:endParaRPr lang="en-US" sz="1600" dirty="0"/>
          </a:p>
        </p:txBody>
      </p:sp>
      <p:sp>
        <p:nvSpPr>
          <p:cNvPr id="6" name="hallazgo-1"/>
          <p:cNvSpPr/>
          <p:nvPr/>
        </p:nvSpPr>
        <p:spPr>
          <a:xfrm>
            <a:off x="4297680" y="4023360"/>
            <a:ext cx="3520440" cy="1463040"/>
          </a:xfrm>
          <a:prstGeom prst="roundRect">
            <a:avLst>
              <a:gd name="adj" fmla="val 7500"/>
            </a:avLst>
          </a:prstGeom>
          <a:solidFill>
            <a:srgbClr val="EEF2F5"/>
          </a:solidFill>
          <a:ln w="12700">
            <a:solidFill>
              <a:srgbClr val="EEF2F5"/>
            </a:solidFill>
            <a:prstDash val="solid"/>
          </a:ln>
        </p:spPr>
      </p:sp>
      <p:sp>
        <p:nvSpPr>
          <p:cNvPr id="7" name="Text 4"/>
          <p:cNvSpPr txBox="1"/>
          <p:nvPr/>
        </p:nvSpPr>
        <p:spPr>
          <a:xfrm>
            <a:off x="4526280" y="420624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Los tres ≈ 0.950, igual que predecir siempre "sin hallazgo" (0.950)</a:t>
            </a:r>
            <a:endParaRPr lang="en-US" sz="1600" dirty="0"/>
          </a:p>
        </p:txBody>
      </p:sp>
      <p:sp>
        <p:nvSpPr>
          <p:cNvPr id="8" name="hallazgo-2"/>
          <p:cNvSpPr/>
          <p:nvPr/>
        </p:nvSpPr>
        <p:spPr>
          <a:xfrm>
            <a:off x="8046720" y="4023360"/>
            <a:ext cx="3520440" cy="1463040"/>
          </a:xfrm>
          <a:prstGeom prst="roundRect">
            <a:avLst>
              <a:gd name="adj" fmla="val 7500"/>
            </a:avLst>
          </a:prstGeom>
          <a:solidFill>
            <a:srgbClr val="EEF2F5"/>
          </a:solidFill>
          <a:ln w="12700">
            <a:solidFill>
              <a:srgbClr val="EEF2F5"/>
            </a:solidFill>
            <a:prstDash val="solid"/>
          </a:ln>
        </p:spPr>
      </p:sp>
      <p:sp>
        <p:nvSpPr>
          <p:cNvPr id="9" name="Text 6"/>
          <p:cNvSpPr txBox="1"/>
          <p:nvPr/>
        </p:nvSpPr>
        <p:spPr>
          <a:xfrm>
            <a:off x="8275320" y="420624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Umbral elegido en validación</a:t>
            </a:r>
            <a:endParaRPr lang="en-US" sz="1600" dirty="0"/>
          </a:p>
          <a:p>
            <a:pPr indent="0" marL="0">
              <a:spcAft>
                <a:spcPts val="600"/>
              </a:spcAft>
              <a:buNone/>
            </a:pPr>
            <a:r>
              <a:rPr lang="en-US" sz="1400" dirty="0">
                <a:solidFill>
                  <a:schemeClr val="tx2"/>
                </a:solidFill>
              </a:rPr>
              <a:t>F1 macro: ~0.04 con umbral 0.5, ~0.19 con umbral ajustado</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051560" y="1280160"/>
            <a:ext cx="5029200" cy="502920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0.88</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0.83</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0.65</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tres modelos. Los hallazgos con pocos positivos en prueba (p. ej. Hernia)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ViT-B/16: 12× los parámetros y 13× más lento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Con AUROC dentro de 0.02 entre los tres, ResNet18 es el mejor compromiso: el más rápido y el que menos memoria usa. Tiempo por época: DenseNet121 41 s · ResNet18 44 s · ViT-B/16 58 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960120" y="1234440"/>
            <a:ext cx="4663440" cy="4663440"/>
          </a:xfrm>
          <a:prstGeom prst="rect">
            <a:avLst/>
          </a:prstGeom>
        </p:spPr>
      </p:pic>
      <p:pic>
        <p:nvPicPr>
          <p:cNvPr id="4" name="atencion-vit" descr="atencion-vit">    </p:cNvPr>
          <p:cNvPicPr>
            <a:picLocks noChangeAspect="1"/>
          </p:cNvPicPr>
          <p:nvPr/>
        </p:nvPicPr>
        <p:blipFill>
          <a:blip r:embed="rId2"/>
          <a:stretch>
            <a:fillRect/>
          </a:stretch>
        </p:blipFill>
        <p:spPr>
          <a:xfrm>
            <a:off x="6583680" y="1234440"/>
            <a:ext cx="4663440" cy="4663440"/>
          </a:xfrm>
          <a:prstGeom prst="rect">
            <a:avLst/>
          </a:prstGeom>
        </p:spPr>
      </p:pic>
      <p:sp>
        <p:nvSpPr>
          <p:cNvPr id="5" name="Text 1"/>
          <p:cNvSpPr txBox="1"/>
          <p:nvPr/>
        </p:nvSpPr>
        <p:spPr>
          <a:xfrm>
            <a:off x="548640" y="5943600"/>
            <a:ext cx="5486400" cy="365760"/>
          </a:xfrm>
          <a:prstGeom prst="rect">
            <a:avLst/>
          </a:prstGeom>
          <a:noFill/>
          <a:ln/>
        </p:spPr>
        <p:txBody>
          <a:bodyPr wrap="square" lIns="0" tIns="0" rIns="0" bIns="0" rtlCol="0" anchor="ctr"/>
          <a:lstStyle/>
          <a:p>
            <a:pPr algn="ctr" indent="0" marL="0">
              <a:buNone/>
            </a:pPr>
            <a:r>
              <a:rPr lang="en-US" sz="1300" dirty="0">
                <a:solidFill>
                  <a:schemeClr val="accent5"/>
                </a:solidFill>
              </a:rPr>
              <a:t>Grad-CAM (DenseNet121, ResNet18) para la clase real</a:t>
            </a:r>
            <a:endParaRPr lang="en-US" sz="1300" dirty="0"/>
          </a:p>
        </p:txBody>
      </p:sp>
      <p:sp>
        <p:nvSpPr>
          <p:cNvPr id="6" name="Text 2"/>
          <p:cNvSpPr txBox="1"/>
          <p:nvPr/>
        </p:nvSpPr>
        <p:spPr>
          <a:xfrm>
            <a:off x="6172200" y="5943600"/>
            <a:ext cx="5486400" cy="365760"/>
          </a:xfrm>
          <a:prstGeom prst="rect">
            <a:avLst/>
          </a:prstGeom>
          <a:noFill/>
          <a:ln/>
        </p:spPr>
        <p:txBody>
          <a:bodyPr wrap="square" lIns="0" tIns="0" rIns="0" bIns="0" rtlCol="0" anchor="ctr"/>
          <a:lstStyle/>
          <a:p>
            <a:pPr algn="ctr" indent="0" marL="0">
              <a:buNone/>
            </a:pPr>
            <a:r>
              <a:rPr lang="en-US" sz="1300" dirty="0">
                <a:solidFill>
                  <a:schemeClr val="accent5"/>
                </a:solidFill>
              </a:rPr>
              <a:t>ViT-B/16: atención del último bloque y attention rollout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508760"/>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417320"/>
            <a:ext cx="10515600" cy="109728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Los tres modelos rinden casi igual (AUROC 0.74–0.76); la dificultad depende más del hallazgo que de la arquitectura.</a:t>
            </a:r>
            <a:endParaRPr lang="en-US" sz="1800" dirty="0"/>
          </a:p>
        </p:txBody>
      </p:sp>
      <p:sp>
        <p:nvSpPr>
          <p:cNvPr id="5" name="Shape 3"/>
          <p:cNvSpPr/>
          <p:nvPr/>
        </p:nvSpPr>
        <p:spPr>
          <a:xfrm>
            <a:off x="548640" y="2834640"/>
            <a:ext cx="274320" cy="274320"/>
          </a:xfrm>
          <a:prstGeom prst="ellipse">
            <a:avLst/>
          </a:prstGeom>
          <a:solidFill>
            <a:srgbClr val="EB6834"/>
          </a:solidFill>
          <a:ln w="12700">
            <a:solidFill>
              <a:srgbClr val="EB6834"/>
            </a:solidFill>
            <a:prstDash val="solid"/>
          </a:ln>
        </p:spPr>
      </p:sp>
      <p:sp>
        <p:nvSpPr>
          <p:cNvPr id="6" name="Text 4"/>
          <p:cNvSpPr txBox="1"/>
          <p:nvPr/>
        </p:nvSpPr>
        <p:spPr>
          <a:xfrm>
            <a:off x="1051560" y="2743200"/>
            <a:ext cx="10515600" cy="109728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El ViT cuesta 12× en parámetros y 13× en tiempo de inferencia sin rendir más.</a:t>
            </a:r>
            <a:endParaRPr lang="en-US" sz="1800" dirty="0"/>
          </a:p>
        </p:txBody>
      </p:sp>
      <p:sp>
        <p:nvSpPr>
          <p:cNvPr id="7" name="Shape 5"/>
          <p:cNvSpPr/>
          <p:nvPr/>
        </p:nvSpPr>
        <p:spPr>
          <a:xfrm>
            <a:off x="548640" y="4160520"/>
            <a:ext cx="274320" cy="274320"/>
          </a:xfrm>
          <a:prstGeom prst="ellipse">
            <a:avLst/>
          </a:prstGeom>
          <a:solidFill>
            <a:srgbClr val="1BAF7A"/>
          </a:solidFill>
          <a:ln w="12700">
            <a:solidFill>
              <a:srgbClr val="1BAF7A"/>
            </a:solidFill>
            <a:prstDash val="solid"/>
          </a:ln>
        </p:spPr>
      </p:sp>
      <p:sp>
        <p:nvSpPr>
          <p:cNvPr id="8" name="Text 6"/>
          <p:cNvSpPr txBox="1"/>
          <p:nvPr/>
        </p:nvSpPr>
        <p:spPr>
          <a:xfrm>
            <a:off x="1051560" y="4069080"/>
            <a:ext cx="10515600" cy="109728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elegido en validación e intervalos de confianza: sin ellos, las conclusiones habrían sido engañosas.</a:t>
            </a:r>
            <a:endParaRPr lang="en-US" sz="1800" dirty="0"/>
          </a:p>
        </p:txBody>
      </p:sp>
      <p:sp>
        <p:nvSpPr>
          <p:cNvPr id="9" name="Text 7"/>
          <p:cNvSpPr txBox="1"/>
          <p:nvPr/>
        </p:nvSpPr>
        <p:spPr>
          <a:xfrm>
            <a:off x="548640" y="5532120"/>
            <a:ext cx="11064240" cy="731520"/>
          </a:xfrm>
          <a:prstGeom prst="rect">
            <a:avLst/>
          </a:prstGeom>
          <a:noFill/>
          <a:ln/>
        </p:spPr>
        <p:txBody>
          <a:bodyPr wrap="square" lIns="0" tIns="0" rIns="0" bIns="0" rtlCol="0" anchor="ctr"/>
          <a:lstStyle/>
          <a:p>
            <a:pPr indent="0" marL="0">
              <a:buNone/>
            </a:pPr>
            <a:r>
              <a:rPr lang="en-US" sz="1300" i="1" dirty="0">
                <a:solidFill>
                  <a:schemeClr val="accent6"/>
                </a:solidFill>
              </a:rPr>
              <a:t>Limitaciones: subconjunto de 12k imágenes (11%), etiquetas ruidosas, 5 épocas con backbone casi congelado, una sola semilla, 224 px. Trabajo futuro: las 112k imágenes, fine-tuning completo, varias semillas, mayor resolución y evaluar la localización con las cajas de ChestX-ray14.</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F2A541"/>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Comparación de DenseNet121, ResNet18 y ViT-B/16 en ChestX-ray14</dc:title>
  <dc:subject>PptxGenJS Presentation</dc:subject>
  <dc:creator>Alfredo Gallegos</dc:creator>
  <cp:lastModifiedBy>Alfredo Gallegos</cp:lastModifiedBy>
  <cp:revision>1</cp:revision>
  <dcterms:created xsi:type="dcterms:W3CDTF">2026-10-15T08:40:45Z</dcterms:created>
  <dcterms:modified xsi:type="dcterms:W3CDTF">2026-10-15T08:40:45Z</dcterms:modified>
</cp:coreProperties>
</file>